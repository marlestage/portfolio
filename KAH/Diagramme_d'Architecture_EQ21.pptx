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  <p:ext uri="GoogleSlidesCustomDataVersion2">
      <go:slidesCustomData xmlns:go="http://customooxmlschemas.google.com/" r:id="rId12" roundtripDataSignature="AMtx7mifVk0erxBbY2rS446xxEDOneWe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3076575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9" y="0"/>
            <a:ext cx="3076575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4" y="4860924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721850"/>
            <a:ext cx="3076575" cy="5111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9" y="9721850"/>
            <a:ext cx="3076575" cy="5111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5b5480eb8_1_0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2b5b5480eb8_1_0:notes"/>
          <p:cNvSpPr txBox="1"/>
          <p:nvPr>
            <p:ph idx="1" type="body"/>
          </p:nvPr>
        </p:nvSpPr>
        <p:spPr>
          <a:xfrm>
            <a:off x="709614" y="4860924"/>
            <a:ext cx="56802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g2b5b5480eb8_1_0:notes"/>
          <p:cNvSpPr txBox="1"/>
          <p:nvPr>
            <p:ph idx="12" type="sldNum"/>
          </p:nvPr>
        </p:nvSpPr>
        <p:spPr>
          <a:xfrm>
            <a:off x="4021139" y="972185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b5b5480eb8_0_24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b5b5480eb8_0_24:notes"/>
          <p:cNvSpPr txBox="1"/>
          <p:nvPr>
            <p:ph idx="1" type="body"/>
          </p:nvPr>
        </p:nvSpPr>
        <p:spPr>
          <a:xfrm>
            <a:off x="709614" y="4860924"/>
            <a:ext cx="56802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2b5b5480eb8_0_24:notes"/>
          <p:cNvSpPr txBox="1"/>
          <p:nvPr>
            <p:ph idx="12" type="sldNum"/>
          </p:nvPr>
        </p:nvSpPr>
        <p:spPr>
          <a:xfrm>
            <a:off x="4021139" y="9721850"/>
            <a:ext cx="3076500" cy="51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68b0bc6b80_7_4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68b0bc6b80_7_4:notes"/>
          <p:cNvSpPr txBox="1"/>
          <p:nvPr>
            <p:ph idx="1" type="body"/>
          </p:nvPr>
        </p:nvSpPr>
        <p:spPr>
          <a:xfrm>
            <a:off x="709614" y="4860924"/>
            <a:ext cx="56802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268b0bc6b80_7_4:notes"/>
          <p:cNvSpPr txBox="1"/>
          <p:nvPr>
            <p:ph idx="12" type="sldNum"/>
          </p:nvPr>
        </p:nvSpPr>
        <p:spPr>
          <a:xfrm>
            <a:off x="4021139" y="9721850"/>
            <a:ext cx="3076500" cy="51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68b0bc6b80_7_63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68b0bc6b80_7_63:notes"/>
          <p:cNvSpPr txBox="1"/>
          <p:nvPr>
            <p:ph idx="1" type="body"/>
          </p:nvPr>
        </p:nvSpPr>
        <p:spPr>
          <a:xfrm>
            <a:off x="709614" y="4860924"/>
            <a:ext cx="56802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268b0bc6b80_7_63:notes"/>
          <p:cNvSpPr txBox="1"/>
          <p:nvPr>
            <p:ph idx="12" type="sldNum"/>
          </p:nvPr>
        </p:nvSpPr>
        <p:spPr>
          <a:xfrm>
            <a:off x="4021139" y="9721850"/>
            <a:ext cx="3076500" cy="51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68b0bc6b80_7_154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68b0bc6b80_7_154:notes"/>
          <p:cNvSpPr txBox="1"/>
          <p:nvPr>
            <p:ph idx="1" type="body"/>
          </p:nvPr>
        </p:nvSpPr>
        <p:spPr>
          <a:xfrm>
            <a:off x="709614" y="4860924"/>
            <a:ext cx="56802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268b0bc6b80_7_154:notes"/>
          <p:cNvSpPr txBox="1"/>
          <p:nvPr>
            <p:ph idx="12" type="sldNum"/>
          </p:nvPr>
        </p:nvSpPr>
        <p:spPr>
          <a:xfrm>
            <a:off x="4021139" y="9721850"/>
            <a:ext cx="3076500" cy="51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b9d9ebf2e2_1_2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b9d9ebf2e2_1_2:notes"/>
          <p:cNvSpPr txBox="1"/>
          <p:nvPr>
            <p:ph idx="1" type="body"/>
          </p:nvPr>
        </p:nvSpPr>
        <p:spPr>
          <a:xfrm>
            <a:off x="709614" y="4860924"/>
            <a:ext cx="5680200" cy="460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2b9d9ebf2e2_1_2:notes"/>
          <p:cNvSpPr txBox="1"/>
          <p:nvPr>
            <p:ph idx="12" type="sldNum"/>
          </p:nvPr>
        </p:nvSpPr>
        <p:spPr>
          <a:xfrm>
            <a:off x="4021139" y="9721850"/>
            <a:ext cx="3076500" cy="51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b5b5480eb8_0_3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2b5b5480eb8_0_3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2b5b5480eb8_0_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b5b5480eb8_0_39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2b5b5480eb8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b5b5480eb8_0_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2b5b5480eb8_0_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2b5b5480eb8_0_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b5b5480eb8_0_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2b5b5480eb8_0_4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2b5b5480eb8_0_4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2b5b5480eb8_0_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2b5b5480eb8_0_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2b5b5480eb8_0_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b5b5480eb8_0_54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2b5b5480eb8_0_54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2b5b5480eb8_0_5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b5b5480eb8_0_5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2b5b5480eb8_0_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b5b5480eb8_0_6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2b5b5480eb8_0_6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2b5b5480eb8_0_6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2b5b5480eb8_0_6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2b5b5480eb8_0_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b5b5480eb8_0_67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2b5b5480eb8_0_6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b5b5480eb8_0_70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2b5b5480eb8_0_70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2b5b5480eb8_0_7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b5b5480eb8_0_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5b5480eb8_0_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b5b5480eb8_0_7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g2b5b5480eb8_0_7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2b5b5480eb8_0_7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2b5b5480eb8_0_7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b5b5480eb8_0_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2b5b5480eb8_0_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2b5b5480eb8_0_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b5b5480eb8_1_0"/>
          <p:cNvSpPr txBox="1"/>
          <p:nvPr>
            <p:ph idx="12" type="sldNum"/>
          </p:nvPr>
        </p:nvSpPr>
        <p:spPr>
          <a:xfrm>
            <a:off x="8326800" y="6356350"/>
            <a:ext cx="36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6" name="Google Shape;66;g2b5b5480eb8_1_0"/>
          <p:cNvSpPr/>
          <p:nvPr/>
        </p:nvSpPr>
        <p:spPr>
          <a:xfrm rot="-5400000">
            <a:off x="4376001" y="3805481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b5b5480eb8_1_0"/>
          <p:cNvSpPr/>
          <p:nvPr/>
        </p:nvSpPr>
        <p:spPr>
          <a:xfrm rot="-1199598">
            <a:off x="5096236" y="3806423"/>
            <a:ext cx="1008159" cy="14396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2b5b5480eb8_1_0"/>
          <p:cNvSpPr/>
          <p:nvPr/>
        </p:nvSpPr>
        <p:spPr>
          <a:xfrm rot="-9600402">
            <a:off x="2986198" y="3842394"/>
            <a:ext cx="1008159" cy="14396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g2b5b5480eb8_1_0"/>
          <p:cNvGrpSpPr/>
          <p:nvPr/>
        </p:nvGrpSpPr>
        <p:grpSpPr>
          <a:xfrm>
            <a:off x="1301875" y="1584575"/>
            <a:ext cx="1777100" cy="357000"/>
            <a:chOff x="1153825" y="2432300"/>
            <a:chExt cx="1777100" cy="357000"/>
          </a:xfrm>
        </p:grpSpPr>
        <p:sp>
          <p:nvSpPr>
            <p:cNvPr id="70" name="Google Shape;70;g2b5b5480eb8_1_0"/>
            <p:cNvSpPr/>
            <p:nvPr/>
          </p:nvSpPr>
          <p:spPr>
            <a:xfrm>
              <a:off x="1153825" y="2432300"/>
              <a:ext cx="861900" cy="357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EXIG_EMTT_IHM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2b5b5480eb8_1_0"/>
            <p:cNvSpPr/>
            <p:nvPr/>
          </p:nvSpPr>
          <p:spPr>
            <a:xfrm>
              <a:off x="2069025" y="2432300"/>
              <a:ext cx="861900" cy="357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EXIG_EMTT_</a:t>
              </a:r>
              <a:r>
                <a:rPr lang="fr-FR" sz="900">
                  <a:solidFill>
                    <a:schemeClr val="dk1"/>
                  </a:solidFill>
                </a:rPr>
                <a:t>KLAXON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" name="Google Shape;72;g2b5b5480eb8_1_0"/>
          <p:cNvGrpSpPr/>
          <p:nvPr/>
        </p:nvGrpSpPr>
        <p:grpSpPr>
          <a:xfrm>
            <a:off x="3555700" y="1584574"/>
            <a:ext cx="2065125" cy="357001"/>
            <a:chOff x="3407650" y="2432299"/>
            <a:chExt cx="2065125" cy="357001"/>
          </a:xfrm>
        </p:grpSpPr>
        <p:sp>
          <p:nvSpPr>
            <p:cNvPr id="73" name="Google Shape;73;g2b5b5480eb8_1_0"/>
            <p:cNvSpPr/>
            <p:nvPr/>
          </p:nvSpPr>
          <p:spPr>
            <a:xfrm>
              <a:off x="3407650" y="2432299"/>
              <a:ext cx="972300" cy="357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EXIG_EMTT_ </a:t>
              </a:r>
              <a:r>
                <a:rPr lang="fr-FR" sz="900">
                  <a:solidFill>
                    <a:schemeClr val="dk1"/>
                  </a:solidFill>
                </a:rPr>
                <a:t>TRAITEMENT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g2b5b5480eb8_1_0"/>
            <p:cNvSpPr/>
            <p:nvPr/>
          </p:nvSpPr>
          <p:spPr>
            <a:xfrm>
              <a:off x="4476175" y="2432300"/>
              <a:ext cx="996600" cy="357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EXIG_EMTT_ </a:t>
              </a:r>
              <a:r>
                <a:rPr lang="fr-FR" sz="900">
                  <a:solidFill>
                    <a:schemeClr val="dk1"/>
                  </a:solidFill>
                </a:rPr>
                <a:t>REPETITIVITE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g2b5b5480eb8_1_0"/>
          <p:cNvSpPr/>
          <p:nvPr/>
        </p:nvSpPr>
        <p:spPr>
          <a:xfrm>
            <a:off x="5949025" y="4064338"/>
            <a:ext cx="1505100" cy="357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EXIG_EMTT_</a:t>
            </a:r>
            <a:r>
              <a:rPr lang="fr-FR" sz="900">
                <a:solidFill>
                  <a:schemeClr val="dk1"/>
                </a:solidFill>
              </a:rPr>
              <a:t>ENERGIE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2b5b5480eb8_1_0"/>
          <p:cNvSpPr/>
          <p:nvPr/>
        </p:nvSpPr>
        <p:spPr>
          <a:xfrm rot="-5400000">
            <a:off x="-102150" y="2602596"/>
            <a:ext cx="1435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dk1"/>
                </a:solidFill>
              </a:rPr>
              <a:t>UTILISATEUR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2b5b5480eb8_1_0"/>
          <p:cNvSpPr/>
          <p:nvPr/>
        </p:nvSpPr>
        <p:spPr>
          <a:xfrm rot="-5400000">
            <a:off x="7322200" y="3183628"/>
            <a:ext cx="234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dk1"/>
                </a:solidFill>
              </a:rPr>
              <a:t>RÉCEPTEUR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2b5b5480eb8_1_0"/>
          <p:cNvSpPr/>
          <p:nvPr/>
        </p:nvSpPr>
        <p:spPr>
          <a:xfrm>
            <a:off x="1263666" y="2221235"/>
            <a:ext cx="1872300" cy="14403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 D’INFORMATIONS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b5b5480eb8_1_0"/>
          <p:cNvSpPr/>
          <p:nvPr/>
        </p:nvSpPr>
        <p:spPr>
          <a:xfrm>
            <a:off x="3639930" y="2221235"/>
            <a:ext cx="1872300" cy="14403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 D’INFORMATIONS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b5b5480eb8_1_0"/>
          <p:cNvSpPr/>
          <p:nvPr/>
        </p:nvSpPr>
        <p:spPr>
          <a:xfrm>
            <a:off x="6000557" y="2221235"/>
            <a:ext cx="1872300" cy="14403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2b5b5480eb8_1_0"/>
          <p:cNvSpPr/>
          <p:nvPr/>
        </p:nvSpPr>
        <p:spPr>
          <a:xfrm>
            <a:off x="1407682" y="3229347"/>
            <a:ext cx="15843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Bouton poussoir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MCDTS6-3K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82" name="Google Shape;82;g2b5b5480eb8_1_0"/>
          <p:cNvSpPr/>
          <p:nvPr/>
        </p:nvSpPr>
        <p:spPr>
          <a:xfrm>
            <a:off x="3783946" y="3013323"/>
            <a:ext cx="15843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ATMEGA328P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2b5b5480eb8_1_0"/>
          <p:cNvSpPr/>
          <p:nvPr/>
        </p:nvSpPr>
        <p:spPr>
          <a:xfrm>
            <a:off x="6313050" y="2571150"/>
            <a:ext cx="1278600" cy="442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2 LEDs IR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TSAL6200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Transistor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84" name="Google Shape;84;g2b5b5480eb8_1_0"/>
          <p:cNvSpPr/>
          <p:nvPr/>
        </p:nvSpPr>
        <p:spPr>
          <a:xfrm>
            <a:off x="6313050" y="3013325"/>
            <a:ext cx="12786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LED verte + Résistance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L-9294CGCK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85" name="Google Shape;85;g2b5b5480eb8_1_0"/>
          <p:cNvSpPr/>
          <p:nvPr/>
        </p:nvSpPr>
        <p:spPr>
          <a:xfrm>
            <a:off x="1407682" y="2869307"/>
            <a:ext cx="15843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Deux potentiomètres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PTA4543-2015DP-B103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86" name="Google Shape;86;g2b5b5480eb8_1_0"/>
          <p:cNvSpPr/>
          <p:nvPr/>
        </p:nvSpPr>
        <p:spPr>
          <a:xfrm>
            <a:off x="3657875" y="4093450"/>
            <a:ext cx="1944300" cy="1503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2b5b5480eb8_1_0"/>
          <p:cNvSpPr/>
          <p:nvPr/>
        </p:nvSpPr>
        <p:spPr>
          <a:xfrm>
            <a:off x="3819929" y="4311417"/>
            <a:ext cx="15843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Accumulateur Lipo 2S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 (Connecteur)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88" name="Google Shape;88;g2b5b5480eb8_1_0"/>
          <p:cNvSpPr txBox="1"/>
          <p:nvPr/>
        </p:nvSpPr>
        <p:spPr>
          <a:xfrm>
            <a:off x="0" y="0"/>
            <a:ext cx="1431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Emetteur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g2b5b5480eb8_1_0"/>
          <p:cNvGrpSpPr/>
          <p:nvPr/>
        </p:nvGrpSpPr>
        <p:grpSpPr>
          <a:xfrm>
            <a:off x="3561050" y="238175"/>
            <a:ext cx="3754275" cy="357025"/>
            <a:chOff x="3561050" y="238175"/>
            <a:chExt cx="3754275" cy="357025"/>
          </a:xfrm>
        </p:grpSpPr>
        <p:sp>
          <p:nvSpPr>
            <p:cNvPr id="90" name="Google Shape;90;g2b5b5480eb8_1_0"/>
            <p:cNvSpPr/>
            <p:nvPr/>
          </p:nvSpPr>
          <p:spPr>
            <a:xfrm>
              <a:off x="5438900" y="238200"/>
              <a:ext cx="937500" cy="357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EXIG_EMTT_DIMENSIONS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2b5b5480eb8_1_0"/>
            <p:cNvSpPr/>
            <p:nvPr/>
          </p:nvSpPr>
          <p:spPr>
            <a:xfrm>
              <a:off x="6453425" y="238200"/>
              <a:ext cx="861900" cy="357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EXIG_EMTT_LOGO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2b5b5480eb8_1_0"/>
            <p:cNvSpPr/>
            <p:nvPr/>
          </p:nvSpPr>
          <p:spPr>
            <a:xfrm>
              <a:off x="4499975" y="238175"/>
              <a:ext cx="861900" cy="357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EXIG_EMTT_DELAI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2b5b5480eb8_1_0"/>
            <p:cNvSpPr/>
            <p:nvPr/>
          </p:nvSpPr>
          <p:spPr>
            <a:xfrm>
              <a:off x="3561050" y="238175"/>
              <a:ext cx="861900" cy="357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EXIG_EMTT_COUT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g2b5b5480eb8_1_0"/>
          <p:cNvSpPr/>
          <p:nvPr/>
        </p:nvSpPr>
        <p:spPr>
          <a:xfrm>
            <a:off x="5122401" y="729888"/>
            <a:ext cx="5343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-F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TOUS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g2b5b5480eb8_1_0"/>
          <p:cNvCxnSpPr>
            <a:stCxn id="93" idx="2"/>
            <a:endCxn id="94" idx="1"/>
          </p:cNvCxnSpPr>
          <p:nvPr/>
        </p:nvCxnSpPr>
        <p:spPr>
          <a:xfrm flipH="1" rot="-5400000">
            <a:off x="4417850" y="169325"/>
            <a:ext cx="278700" cy="1130400"/>
          </a:xfrm>
          <a:prstGeom prst="bentConnector2">
            <a:avLst/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" name="Google Shape;96;g2b5b5480eb8_1_0"/>
          <p:cNvCxnSpPr>
            <a:stCxn id="90" idx="2"/>
            <a:endCxn id="94" idx="3"/>
          </p:cNvCxnSpPr>
          <p:nvPr/>
        </p:nvCxnSpPr>
        <p:spPr>
          <a:xfrm rot="5400000">
            <a:off x="5642900" y="609150"/>
            <a:ext cx="278700" cy="250800"/>
          </a:xfrm>
          <a:prstGeom prst="bentConnector2">
            <a:avLst/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" name="Google Shape;97;g2b5b5480eb8_1_0"/>
          <p:cNvCxnSpPr>
            <a:stCxn id="92" idx="2"/>
            <a:endCxn id="94" idx="1"/>
          </p:cNvCxnSpPr>
          <p:nvPr/>
        </p:nvCxnSpPr>
        <p:spPr>
          <a:xfrm flipH="1" rot="-5400000">
            <a:off x="4887275" y="638825"/>
            <a:ext cx="278700" cy="191400"/>
          </a:xfrm>
          <a:prstGeom prst="bentConnector2">
            <a:avLst/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" name="Google Shape;98;g2b5b5480eb8_1_0"/>
          <p:cNvCxnSpPr>
            <a:stCxn id="91" idx="2"/>
            <a:endCxn id="94" idx="3"/>
          </p:cNvCxnSpPr>
          <p:nvPr/>
        </p:nvCxnSpPr>
        <p:spPr>
          <a:xfrm rot="5400000">
            <a:off x="6131225" y="120750"/>
            <a:ext cx="278700" cy="1227600"/>
          </a:xfrm>
          <a:prstGeom prst="bentConnector2">
            <a:avLst/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9" name="Google Shape;99;g2b5b5480eb8_1_0"/>
          <p:cNvSpPr/>
          <p:nvPr/>
        </p:nvSpPr>
        <p:spPr>
          <a:xfrm>
            <a:off x="5851225" y="4622600"/>
            <a:ext cx="1700700" cy="357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EXIG_EMTT_</a:t>
            </a:r>
            <a:r>
              <a:rPr lang="fr-FR" sz="900">
                <a:solidFill>
                  <a:schemeClr val="dk1"/>
                </a:solidFill>
              </a:rPr>
              <a:t>INTERUPTEUR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2b5b5480eb8_1_0"/>
          <p:cNvSpPr/>
          <p:nvPr/>
        </p:nvSpPr>
        <p:spPr>
          <a:xfrm>
            <a:off x="4010363" y="1152587"/>
            <a:ext cx="1131300" cy="357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EXIG_EMTT_RETENTISSEMENT</a:t>
            </a:r>
            <a:endParaRPr sz="900">
              <a:solidFill>
                <a:schemeClr val="dk1"/>
              </a:solidFill>
            </a:endParaRPr>
          </a:p>
        </p:txBody>
      </p:sp>
      <p:grpSp>
        <p:nvGrpSpPr>
          <p:cNvPr id="101" name="Google Shape;101;g2b5b5480eb8_1_0"/>
          <p:cNvGrpSpPr/>
          <p:nvPr/>
        </p:nvGrpSpPr>
        <p:grpSpPr>
          <a:xfrm>
            <a:off x="5953475" y="1584563"/>
            <a:ext cx="1997750" cy="357000"/>
            <a:chOff x="5805425" y="2432288"/>
            <a:chExt cx="1997750" cy="357000"/>
          </a:xfrm>
        </p:grpSpPr>
        <p:sp>
          <p:nvSpPr>
            <p:cNvPr id="102" name="Google Shape;102;g2b5b5480eb8_1_0"/>
            <p:cNvSpPr/>
            <p:nvPr/>
          </p:nvSpPr>
          <p:spPr>
            <a:xfrm>
              <a:off x="5805425" y="2432288"/>
              <a:ext cx="972300" cy="357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EXIG_EMTT_</a:t>
              </a:r>
              <a:r>
                <a:rPr lang="fr-FR" sz="900">
                  <a:solidFill>
                    <a:schemeClr val="dk1"/>
                  </a:solidFill>
                </a:rPr>
                <a:t>PUISSANCE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2b5b5480eb8_1_0"/>
            <p:cNvSpPr/>
            <p:nvPr/>
          </p:nvSpPr>
          <p:spPr>
            <a:xfrm>
              <a:off x="6830875" y="2432288"/>
              <a:ext cx="972300" cy="357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EXIG_EMTT_</a:t>
              </a:r>
              <a:r>
                <a:rPr lang="fr-FR" sz="900">
                  <a:solidFill>
                    <a:schemeClr val="dk1"/>
                  </a:solidFill>
                </a:rPr>
                <a:t>INDICATEUR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4" name="Google Shape;104;g2b5b5480eb8_1_0"/>
          <p:cNvCxnSpPr>
            <a:stCxn id="73" idx="2"/>
            <a:endCxn id="82" idx="0"/>
          </p:cNvCxnSpPr>
          <p:nvPr/>
        </p:nvCxnSpPr>
        <p:spPr>
          <a:xfrm flipH="1" rot="-5400000">
            <a:off x="3773200" y="2210224"/>
            <a:ext cx="1071600" cy="534300"/>
          </a:xfrm>
          <a:prstGeom prst="bentConnector3">
            <a:avLst>
              <a:gd fmla="val 18377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5" name="Google Shape;105;g2b5b5480eb8_1_0"/>
          <p:cNvCxnSpPr>
            <a:stCxn id="70" idx="2"/>
            <a:endCxn id="85" idx="0"/>
          </p:cNvCxnSpPr>
          <p:nvPr/>
        </p:nvCxnSpPr>
        <p:spPr>
          <a:xfrm flipH="1" rot="-5400000">
            <a:off x="1502575" y="2171825"/>
            <a:ext cx="927600" cy="467100"/>
          </a:xfrm>
          <a:prstGeom prst="bentConnector3">
            <a:avLst>
              <a:gd fmla="val 21362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" name="Google Shape;106;g2b5b5480eb8_1_0"/>
          <p:cNvCxnSpPr>
            <a:stCxn id="71" idx="2"/>
            <a:endCxn id="85" idx="0"/>
          </p:cNvCxnSpPr>
          <p:nvPr/>
        </p:nvCxnSpPr>
        <p:spPr>
          <a:xfrm rot="5400000">
            <a:off x="1960125" y="2181275"/>
            <a:ext cx="927600" cy="448200"/>
          </a:xfrm>
          <a:prstGeom prst="bentConnector3">
            <a:avLst>
              <a:gd fmla="val 21362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7" name="Google Shape;107;g2b5b5480eb8_1_0"/>
          <p:cNvCxnSpPr>
            <a:stCxn id="100" idx="2"/>
            <a:endCxn id="82" idx="0"/>
          </p:cNvCxnSpPr>
          <p:nvPr/>
        </p:nvCxnSpPr>
        <p:spPr>
          <a:xfrm flipH="1" rot="-5400000">
            <a:off x="3824513" y="2261087"/>
            <a:ext cx="1503600" cy="600"/>
          </a:xfrm>
          <a:prstGeom prst="bentConnector3">
            <a:avLst>
              <a:gd fmla="val 50005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8" name="Google Shape;108;g2b5b5480eb8_1_0"/>
          <p:cNvCxnSpPr>
            <a:stCxn id="74" idx="2"/>
            <a:endCxn id="82" idx="0"/>
          </p:cNvCxnSpPr>
          <p:nvPr/>
        </p:nvCxnSpPr>
        <p:spPr>
          <a:xfrm rot="5400000">
            <a:off x="4313575" y="2204225"/>
            <a:ext cx="1071600" cy="546300"/>
          </a:xfrm>
          <a:prstGeom prst="bentConnector3">
            <a:avLst>
              <a:gd fmla="val 18580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" name="Google Shape;109;g2b5b5480eb8_1_0"/>
          <p:cNvCxnSpPr>
            <a:stCxn id="102" idx="2"/>
            <a:endCxn id="83" idx="1"/>
          </p:cNvCxnSpPr>
          <p:nvPr/>
        </p:nvCxnSpPr>
        <p:spPr>
          <a:xfrm rot="5400000">
            <a:off x="5950925" y="2303663"/>
            <a:ext cx="850800" cy="126600"/>
          </a:xfrm>
          <a:prstGeom prst="bentConnector4">
            <a:avLst>
              <a:gd fmla="val 37000" name="adj1"/>
              <a:gd fmla="val 288073" name="adj2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" name="Google Shape;110;g2b5b5480eb8_1_0"/>
          <p:cNvCxnSpPr>
            <a:stCxn id="103" idx="2"/>
            <a:endCxn id="84" idx="3"/>
          </p:cNvCxnSpPr>
          <p:nvPr/>
        </p:nvCxnSpPr>
        <p:spPr>
          <a:xfrm flipH="1" rot="-5400000">
            <a:off x="6920425" y="2486213"/>
            <a:ext cx="1215900" cy="126600"/>
          </a:xfrm>
          <a:prstGeom prst="bentConnector4">
            <a:avLst>
              <a:gd fmla="val 44073" name="adj1"/>
              <a:gd fmla="val 288073" name="adj2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" name="Google Shape;111;g2b5b5480eb8_1_0"/>
          <p:cNvCxnSpPr>
            <a:stCxn id="99" idx="1"/>
            <a:endCxn id="112" idx="3"/>
          </p:cNvCxnSpPr>
          <p:nvPr/>
        </p:nvCxnSpPr>
        <p:spPr>
          <a:xfrm flipH="1">
            <a:off x="5404225" y="4801100"/>
            <a:ext cx="447000" cy="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" name="Google Shape;113;g2b5b5480eb8_1_0"/>
          <p:cNvCxnSpPr>
            <a:stCxn id="75" idx="1"/>
            <a:endCxn id="87" idx="3"/>
          </p:cNvCxnSpPr>
          <p:nvPr/>
        </p:nvCxnSpPr>
        <p:spPr>
          <a:xfrm flipH="1">
            <a:off x="5404225" y="4242838"/>
            <a:ext cx="544800" cy="2127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" name="Google Shape;112;g2b5b5480eb8_1_0"/>
          <p:cNvSpPr/>
          <p:nvPr/>
        </p:nvSpPr>
        <p:spPr>
          <a:xfrm>
            <a:off x="3819925" y="4657100"/>
            <a:ext cx="15843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Interrupteur</a:t>
            </a:r>
            <a:endParaRPr sz="800"/>
          </a:p>
        </p:txBody>
      </p:sp>
      <p:sp>
        <p:nvSpPr>
          <p:cNvPr id="114" name="Google Shape;114;g2b5b5480eb8_1_0"/>
          <p:cNvSpPr/>
          <p:nvPr/>
        </p:nvSpPr>
        <p:spPr>
          <a:xfrm>
            <a:off x="7940457" y="2941306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2b5b5480eb8_1_0"/>
          <p:cNvSpPr/>
          <p:nvPr/>
        </p:nvSpPr>
        <p:spPr>
          <a:xfrm>
            <a:off x="3819917" y="5002767"/>
            <a:ext cx="15843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rgbClr val="000000"/>
                </a:solidFill>
              </a:rPr>
              <a:t>Régulateur linéaire</a:t>
            </a:r>
            <a:endParaRPr sz="800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(Condensateurs)</a:t>
            </a:r>
            <a:endParaRPr sz="800"/>
          </a:p>
        </p:txBody>
      </p:sp>
      <p:sp>
        <p:nvSpPr>
          <p:cNvPr id="116" name="Google Shape;116;g2b5b5480eb8_1_0"/>
          <p:cNvSpPr/>
          <p:nvPr/>
        </p:nvSpPr>
        <p:spPr>
          <a:xfrm>
            <a:off x="831648" y="2941306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2b5b5480eb8_1_0"/>
          <p:cNvSpPr/>
          <p:nvPr/>
        </p:nvSpPr>
        <p:spPr>
          <a:xfrm>
            <a:off x="5595463" y="2953762"/>
            <a:ext cx="337500" cy="12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4EA7"/>
          </a:solidFill>
          <a:ln cap="flat" cmpd="sng" w="25400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2b5b5480eb8_1_0"/>
          <p:cNvSpPr/>
          <p:nvPr/>
        </p:nvSpPr>
        <p:spPr>
          <a:xfrm>
            <a:off x="262750" y="3877502"/>
            <a:ext cx="1997700" cy="2844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2b5b5480eb8_1_0"/>
          <p:cNvSpPr/>
          <p:nvPr/>
        </p:nvSpPr>
        <p:spPr>
          <a:xfrm>
            <a:off x="367387" y="6461652"/>
            <a:ext cx="337500" cy="15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2b5b5480eb8_1_0"/>
          <p:cNvSpPr/>
          <p:nvPr/>
        </p:nvSpPr>
        <p:spPr>
          <a:xfrm>
            <a:off x="380953" y="4316574"/>
            <a:ext cx="337500" cy="15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2b5b5480eb8_1_0"/>
          <p:cNvSpPr/>
          <p:nvPr/>
        </p:nvSpPr>
        <p:spPr>
          <a:xfrm>
            <a:off x="380940" y="5626358"/>
            <a:ext cx="337500" cy="15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254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2b5b5480eb8_1_0"/>
          <p:cNvSpPr/>
          <p:nvPr/>
        </p:nvSpPr>
        <p:spPr>
          <a:xfrm>
            <a:off x="380950" y="5210727"/>
            <a:ext cx="337500" cy="15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4EA7"/>
          </a:solidFill>
          <a:ln cap="flat" cmpd="sng" w="25400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2b5b5480eb8_1_0"/>
          <p:cNvSpPr/>
          <p:nvPr/>
        </p:nvSpPr>
        <p:spPr>
          <a:xfrm>
            <a:off x="380945" y="5981766"/>
            <a:ext cx="337500" cy="15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2b5b5480eb8_1_0"/>
          <p:cNvSpPr txBox="1"/>
          <p:nvPr/>
        </p:nvSpPr>
        <p:spPr>
          <a:xfrm>
            <a:off x="827350" y="3947922"/>
            <a:ext cx="868500" cy="4421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Légende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2b5b5480eb8_1_0"/>
          <p:cNvSpPr txBox="1"/>
          <p:nvPr/>
        </p:nvSpPr>
        <p:spPr>
          <a:xfrm>
            <a:off x="774150" y="6396392"/>
            <a:ext cx="1402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</a:t>
            </a:r>
            <a:r>
              <a:rPr lang="fr-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infrarouge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2b5b5480eb8_1_0"/>
          <p:cNvSpPr txBox="1"/>
          <p:nvPr/>
        </p:nvSpPr>
        <p:spPr>
          <a:xfrm>
            <a:off x="785250" y="4237124"/>
            <a:ext cx="1417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</a:t>
            </a:r>
            <a:r>
              <a:rPr lang="fr-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mécanique translation 5,3cm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2b5b5480eb8_1_0"/>
          <p:cNvSpPr txBox="1"/>
          <p:nvPr/>
        </p:nvSpPr>
        <p:spPr>
          <a:xfrm>
            <a:off x="784350" y="5529609"/>
            <a:ext cx="1419300" cy="309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électrique analogique continu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2b5b5480eb8_1_0"/>
          <p:cNvSpPr txBox="1"/>
          <p:nvPr/>
        </p:nvSpPr>
        <p:spPr>
          <a:xfrm>
            <a:off x="774150" y="5157539"/>
            <a:ext cx="1402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</a:t>
            </a:r>
            <a:r>
              <a:rPr lang="fr-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électrique</a:t>
            </a:r>
            <a:r>
              <a:rPr lang="fr-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NEC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2b5b5480eb8_1_0"/>
          <p:cNvSpPr txBox="1"/>
          <p:nvPr/>
        </p:nvSpPr>
        <p:spPr>
          <a:xfrm>
            <a:off x="778050" y="5914343"/>
            <a:ext cx="14319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Alimentation 5V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2b5b5480eb8_1_0"/>
          <p:cNvSpPr/>
          <p:nvPr/>
        </p:nvSpPr>
        <p:spPr>
          <a:xfrm>
            <a:off x="3219190" y="2949542"/>
            <a:ext cx="337500" cy="12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254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2b5b5480eb8_1_0"/>
          <p:cNvSpPr/>
          <p:nvPr/>
        </p:nvSpPr>
        <p:spPr>
          <a:xfrm>
            <a:off x="7940460" y="3301356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254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2b5b5480eb8_1_0"/>
          <p:cNvSpPr/>
          <p:nvPr/>
        </p:nvSpPr>
        <p:spPr>
          <a:xfrm>
            <a:off x="356135" y="6290006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/>
          </a:solidFill>
          <a:ln cap="flat" cmpd="sng" w="254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2b5b5480eb8_1_0"/>
          <p:cNvSpPr txBox="1"/>
          <p:nvPr/>
        </p:nvSpPr>
        <p:spPr>
          <a:xfrm>
            <a:off x="759600" y="6234350"/>
            <a:ext cx="14319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optique vert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2b5b5480eb8_1_0"/>
          <p:cNvSpPr/>
          <p:nvPr/>
        </p:nvSpPr>
        <p:spPr>
          <a:xfrm>
            <a:off x="831635" y="3301356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254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2b5b5480eb8_1_0"/>
          <p:cNvSpPr/>
          <p:nvPr/>
        </p:nvSpPr>
        <p:spPr>
          <a:xfrm>
            <a:off x="3219190" y="3311954"/>
            <a:ext cx="337500" cy="12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2540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2b5b5480eb8_1_0"/>
          <p:cNvSpPr/>
          <p:nvPr/>
        </p:nvSpPr>
        <p:spPr>
          <a:xfrm>
            <a:off x="369710" y="4556306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254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2b5b5480eb8_1_0"/>
          <p:cNvSpPr txBox="1"/>
          <p:nvPr/>
        </p:nvSpPr>
        <p:spPr>
          <a:xfrm>
            <a:off x="785250" y="4440911"/>
            <a:ext cx="1417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mécanique translation verticale Xcm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2b5b5480eb8_1_0"/>
          <p:cNvSpPr/>
          <p:nvPr/>
        </p:nvSpPr>
        <p:spPr>
          <a:xfrm>
            <a:off x="5595452" y="3296067"/>
            <a:ext cx="337500" cy="12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254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2b5b5480eb8_1_0"/>
          <p:cNvSpPr txBox="1"/>
          <p:nvPr/>
        </p:nvSpPr>
        <p:spPr>
          <a:xfrm>
            <a:off x="6787313" y="0"/>
            <a:ext cx="235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lectronique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b5b5480eb8_0_24"/>
          <p:cNvSpPr/>
          <p:nvPr/>
        </p:nvSpPr>
        <p:spPr>
          <a:xfrm>
            <a:off x="3251825" y="2165500"/>
            <a:ext cx="1872300" cy="1441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 D’INFORMATIONS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2b5b5480eb8_0_24"/>
          <p:cNvSpPr/>
          <p:nvPr/>
        </p:nvSpPr>
        <p:spPr>
          <a:xfrm>
            <a:off x="3395846" y="2957598"/>
            <a:ext cx="15843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ATMEGA328P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g2b5b5480eb8_0_24"/>
          <p:cNvGrpSpPr/>
          <p:nvPr/>
        </p:nvGrpSpPr>
        <p:grpSpPr>
          <a:xfrm>
            <a:off x="2918450" y="1124938"/>
            <a:ext cx="2539700" cy="1832700"/>
            <a:chOff x="3158500" y="2028388"/>
            <a:chExt cx="2539700" cy="1832700"/>
          </a:xfrm>
        </p:grpSpPr>
        <p:sp>
          <p:nvSpPr>
            <p:cNvPr id="148" name="Google Shape;148;g2b5b5480eb8_0_24"/>
            <p:cNvSpPr/>
            <p:nvPr/>
          </p:nvSpPr>
          <p:spPr>
            <a:xfrm>
              <a:off x="3875988" y="2028388"/>
              <a:ext cx="1110300" cy="360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EXIG_RCPT_RETENTISSEMENT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2b5b5480eb8_0_24"/>
            <p:cNvSpPr/>
            <p:nvPr/>
          </p:nvSpPr>
          <p:spPr>
            <a:xfrm>
              <a:off x="4587900" y="2615925"/>
              <a:ext cx="1110300" cy="360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EXIG_RCPT_</a:t>
              </a:r>
              <a:endParaRPr sz="900">
                <a:solidFill>
                  <a:schemeClr val="dk1"/>
                </a:solidFill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SECURITE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2b5b5480eb8_0_24"/>
            <p:cNvSpPr/>
            <p:nvPr/>
          </p:nvSpPr>
          <p:spPr>
            <a:xfrm>
              <a:off x="3158500" y="2615913"/>
              <a:ext cx="1110300" cy="360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EXIG_RCPT_TRAITEMENT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" name="Google Shape;151;g2b5b5480eb8_0_24"/>
            <p:cNvCxnSpPr>
              <a:stCxn id="149" idx="1"/>
              <a:endCxn id="146" idx="0"/>
            </p:cNvCxnSpPr>
            <p:nvPr/>
          </p:nvCxnSpPr>
          <p:spPr>
            <a:xfrm flipH="1">
              <a:off x="4428000" y="2795925"/>
              <a:ext cx="159900" cy="1065000"/>
            </a:xfrm>
            <a:prstGeom prst="bentConnector2">
              <a:avLst/>
            </a:prstGeom>
            <a:noFill/>
            <a:ln cap="flat" cmpd="sng" w="28575">
              <a:solidFill>
                <a:srgbClr val="CCCCCC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52" name="Google Shape;152;g2b5b5480eb8_0_24"/>
            <p:cNvCxnSpPr>
              <a:stCxn id="148" idx="2"/>
              <a:endCxn id="146" idx="0"/>
            </p:cNvCxnSpPr>
            <p:nvPr/>
          </p:nvCxnSpPr>
          <p:spPr>
            <a:xfrm rot="5400000">
              <a:off x="3693288" y="3123238"/>
              <a:ext cx="1472700" cy="3000"/>
            </a:xfrm>
            <a:prstGeom prst="bentConnector3">
              <a:avLst>
                <a:gd fmla="val 49999" name="adj1"/>
              </a:avLst>
            </a:prstGeom>
            <a:noFill/>
            <a:ln cap="flat" cmpd="sng" w="28575">
              <a:solidFill>
                <a:srgbClr val="CCCCCC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53" name="Google Shape;153;g2b5b5480eb8_0_24"/>
            <p:cNvCxnSpPr>
              <a:stCxn id="150" idx="3"/>
              <a:endCxn id="146" idx="0"/>
            </p:cNvCxnSpPr>
            <p:nvPr/>
          </p:nvCxnSpPr>
          <p:spPr>
            <a:xfrm>
              <a:off x="4268800" y="2795913"/>
              <a:ext cx="159300" cy="1065000"/>
            </a:xfrm>
            <a:prstGeom prst="bentConnector2">
              <a:avLst/>
            </a:prstGeom>
            <a:noFill/>
            <a:ln cap="flat" cmpd="sng" w="28575">
              <a:solidFill>
                <a:srgbClr val="CCCCCC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154" name="Google Shape;154;g2b5b5480eb8_0_24"/>
          <p:cNvSpPr/>
          <p:nvPr/>
        </p:nvSpPr>
        <p:spPr>
          <a:xfrm>
            <a:off x="5840700" y="2154350"/>
            <a:ext cx="1872300" cy="2106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2b5b5480eb8_0_24"/>
          <p:cNvSpPr/>
          <p:nvPr/>
        </p:nvSpPr>
        <p:spPr>
          <a:xfrm>
            <a:off x="213475" y="4477825"/>
            <a:ext cx="2353500" cy="2106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2b5b5480eb8_0_24"/>
          <p:cNvSpPr/>
          <p:nvPr/>
        </p:nvSpPr>
        <p:spPr>
          <a:xfrm>
            <a:off x="412037" y="5005609"/>
            <a:ext cx="337500" cy="12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254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b5b5480eb8_0_24"/>
          <p:cNvSpPr txBox="1"/>
          <p:nvPr/>
        </p:nvSpPr>
        <p:spPr>
          <a:xfrm>
            <a:off x="749561" y="4898850"/>
            <a:ext cx="14847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infrarouge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2b5b5480eb8_0_24"/>
          <p:cNvSpPr/>
          <p:nvPr/>
        </p:nvSpPr>
        <p:spPr>
          <a:xfrm>
            <a:off x="412053" y="5686058"/>
            <a:ext cx="337500" cy="12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2b5b5480eb8_0_24"/>
          <p:cNvSpPr txBox="1"/>
          <p:nvPr/>
        </p:nvSpPr>
        <p:spPr>
          <a:xfrm>
            <a:off x="749550" y="5534250"/>
            <a:ext cx="1689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acoustique, optique et mécanique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2b5b5480eb8_0_24"/>
          <p:cNvSpPr/>
          <p:nvPr/>
        </p:nvSpPr>
        <p:spPr>
          <a:xfrm>
            <a:off x="412040" y="6040467"/>
            <a:ext cx="337500" cy="12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254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2b5b5480eb8_0_24"/>
          <p:cNvSpPr txBox="1"/>
          <p:nvPr/>
        </p:nvSpPr>
        <p:spPr>
          <a:xfrm>
            <a:off x="749549" y="5913688"/>
            <a:ext cx="14847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PWM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2b5b5480eb8_0_24"/>
          <p:cNvSpPr txBox="1"/>
          <p:nvPr/>
        </p:nvSpPr>
        <p:spPr>
          <a:xfrm>
            <a:off x="749554" y="5216550"/>
            <a:ext cx="14847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NEC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2b5b5480eb8_0_24"/>
          <p:cNvSpPr/>
          <p:nvPr/>
        </p:nvSpPr>
        <p:spPr>
          <a:xfrm>
            <a:off x="412050" y="5331649"/>
            <a:ext cx="337500" cy="12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4EA7"/>
          </a:solidFill>
          <a:ln cap="flat" cmpd="sng" w="25400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b5b5480eb8_0_24"/>
          <p:cNvSpPr/>
          <p:nvPr/>
        </p:nvSpPr>
        <p:spPr>
          <a:xfrm>
            <a:off x="412045" y="6394900"/>
            <a:ext cx="337500" cy="12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2b5b5480eb8_0_24"/>
          <p:cNvSpPr txBox="1"/>
          <p:nvPr/>
        </p:nvSpPr>
        <p:spPr>
          <a:xfrm>
            <a:off x="749550" y="6217350"/>
            <a:ext cx="14847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Alimentation 5V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2b5b5480eb8_0_24"/>
          <p:cNvSpPr/>
          <p:nvPr/>
        </p:nvSpPr>
        <p:spPr>
          <a:xfrm rot="-1199512">
            <a:off x="5176376" y="3942005"/>
            <a:ext cx="502798" cy="14396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2b5b5480eb8_0_24"/>
          <p:cNvSpPr/>
          <p:nvPr/>
        </p:nvSpPr>
        <p:spPr>
          <a:xfrm>
            <a:off x="5754588" y="1507763"/>
            <a:ext cx="942000" cy="360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EXIG_RCPT_MOTEUR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2b5b5480eb8_0_24"/>
          <p:cNvSpPr/>
          <p:nvPr/>
        </p:nvSpPr>
        <p:spPr>
          <a:xfrm>
            <a:off x="5754601" y="1071775"/>
            <a:ext cx="942000" cy="360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EXIG_RCPT_ROUE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2b5b5480eb8_0_24"/>
          <p:cNvSpPr/>
          <p:nvPr/>
        </p:nvSpPr>
        <p:spPr>
          <a:xfrm>
            <a:off x="5325946" y="2927169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254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2b5b5480eb8_0_24"/>
          <p:cNvSpPr/>
          <p:nvPr/>
        </p:nvSpPr>
        <p:spPr>
          <a:xfrm>
            <a:off x="8329473" y="3070256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2b5b5480eb8_0_24"/>
          <p:cNvSpPr/>
          <p:nvPr/>
        </p:nvSpPr>
        <p:spPr>
          <a:xfrm rot="-5400000">
            <a:off x="7742275" y="2987278"/>
            <a:ext cx="2348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dk1"/>
                </a:solidFill>
              </a:rPr>
              <a:t>UTILISATEUR ET ENVIRONNEMENT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2b5b5480eb8_0_24"/>
          <p:cNvSpPr/>
          <p:nvPr/>
        </p:nvSpPr>
        <p:spPr>
          <a:xfrm>
            <a:off x="5984700" y="2733488"/>
            <a:ext cx="1584300" cy="408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CONTROLEUR BRUSHLESS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HobbyKing 10A ESC 1A UBEC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73" name="Google Shape;173;g2b5b5480eb8_0_24"/>
          <p:cNvSpPr/>
          <p:nvPr/>
        </p:nvSpPr>
        <p:spPr>
          <a:xfrm>
            <a:off x="5984723" y="3411497"/>
            <a:ext cx="1584300" cy="2559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LED VERT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L-9294CGCK + résistance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74" name="Google Shape;174;g2b5b5480eb8_0_24"/>
          <p:cNvSpPr/>
          <p:nvPr/>
        </p:nvSpPr>
        <p:spPr>
          <a:xfrm>
            <a:off x="5984708" y="3920525"/>
            <a:ext cx="1584300" cy="2559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BUZZER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MCKPT-G1210-3916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75" name="Google Shape;175;g2b5b5480eb8_0_24"/>
          <p:cNvSpPr/>
          <p:nvPr/>
        </p:nvSpPr>
        <p:spPr>
          <a:xfrm>
            <a:off x="5984723" y="3664494"/>
            <a:ext cx="1584300" cy="2559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LED BLEU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L-9294QBC-D + résistance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76" name="Google Shape;176;g2b5b5480eb8_0_24"/>
          <p:cNvSpPr/>
          <p:nvPr/>
        </p:nvSpPr>
        <p:spPr>
          <a:xfrm rot="-5400000">
            <a:off x="3971951" y="3821793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2b5b5480eb8_0_24"/>
          <p:cNvSpPr/>
          <p:nvPr/>
        </p:nvSpPr>
        <p:spPr>
          <a:xfrm rot="-9601014">
            <a:off x="2520811" y="3942024"/>
            <a:ext cx="547780" cy="14396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2b5b5480eb8_0_24"/>
          <p:cNvSpPr/>
          <p:nvPr/>
        </p:nvSpPr>
        <p:spPr>
          <a:xfrm>
            <a:off x="2819857" y="3070244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4EA7"/>
          </a:solidFill>
          <a:ln cap="flat" cmpd="sng" w="25400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2b5b5480eb8_0_24"/>
          <p:cNvSpPr/>
          <p:nvPr/>
        </p:nvSpPr>
        <p:spPr>
          <a:xfrm>
            <a:off x="371518" y="3029606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254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2b5b5480eb8_0_24"/>
          <p:cNvSpPr/>
          <p:nvPr/>
        </p:nvSpPr>
        <p:spPr>
          <a:xfrm rot="-5400000">
            <a:off x="-901075" y="2919950"/>
            <a:ext cx="22572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FR" sz="1200">
                <a:solidFill>
                  <a:schemeClr val="dk1"/>
                </a:solidFill>
              </a:rPr>
              <a:t>EMETTEUR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g2b5b5480eb8_0_24"/>
          <p:cNvGrpSpPr/>
          <p:nvPr/>
        </p:nvGrpSpPr>
        <p:grpSpPr>
          <a:xfrm>
            <a:off x="875575" y="1466325"/>
            <a:ext cx="1872300" cy="2140374"/>
            <a:chOff x="1115625" y="2369775"/>
            <a:chExt cx="1872300" cy="2140374"/>
          </a:xfrm>
        </p:grpSpPr>
        <p:sp>
          <p:nvSpPr>
            <p:cNvPr id="182" name="Google Shape;182;g2b5b5480eb8_0_24"/>
            <p:cNvSpPr/>
            <p:nvPr/>
          </p:nvSpPr>
          <p:spPr>
            <a:xfrm>
              <a:off x="1578050" y="2369775"/>
              <a:ext cx="942000" cy="360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-FR" sz="900">
                  <a:solidFill>
                    <a:schemeClr val="dk1"/>
                  </a:solidFill>
                </a:rPr>
                <a:t>EXIG_RCPT_CAPTEUR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" name="Google Shape;183;g2b5b5480eb8_0_24"/>
            <p:cNvCxnSpPr>
              <a:stCxn id="182" idx="2"/>
              <a:endCxn id="184" idx="0"/>
            </p:cNvCxnSpPr>
            <p:nvPr/>
          </p:nvCxnSpPr>
          <p:spPr>
            <a:xfrm>
              <a:off x="2049050" y="2729775"/>
              <a:ext cx="2700" cy="987300"/>
            </a:xfrm>
            <a:prstGeom prst="straightConnector1">
              <a:avLst/>
            </a:prstGeom>
            <a:noFill/>
            <a:ln cap="flat" cmpd="sng" w="25400">
              <a:solidFill>
                <a:srgbClr val="CCCCCC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85" name="Google Shape;185;g2b5b5480eb8_0_24"/>
            <p:cNvSpPr/>
            <p:nvPr/>
          </p:nvSpPr>
          <p:spPr>
            <a:xfrm>
              <a:off x="1115625" y="3068949"/>
              <a:ext cx="1872300" cy="14412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fr-FR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ACQUISITION D’INFORMATIONS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2b5b5480eb8_0_24"/>
            <p:cNvSpPr/>
            <p:nvPr/>
          </p:nvSpPr>
          <p:spPr>
            <a:xfrm>
              <a:off x="1259632" y="3717032"/>
              <a:ext cx="1584300" cy="288000"/>
            </a:xfrm>
            <a:prstGeom prst="rect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fr-FR" sz="800">
                  <a:solidFill>
                    <a:schemeClr val="dk1"/>
                  </a:solidFill>
                </a:rPr>
                <a:t>RÉCEPTEUR INFRAROUGE</a:t>
              </a:r>
              <a:endParaRPr sz="800">
                <a:solidFill>
                  <a:schemeClr val="dk1"/>
                </a:solidFill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fr-FR" sz="800">
                  <a:solidFill>
                    <a:schemeClr val="dk1"/>
                  </a:solidFill>
                </a:rPr>
                <a:t>TSOP58438</a:t>
              </a:r>
              <a:endParaRPr sz="800">
                <a:solidFill>
                  <a:schemeClr val="dk1"/>
                </a:solidFill>
              </a:endParaRPr>
            </a:p>
          </p:txBody>
        </p:sp>
      </p:grpSp>
      <p:sp>
        <p:nvSpPr>
          <p:cNvPr id="186" name="Google Shape;186;g2b5b5480eb8_0_24"/>
          <p:cNvSpPr/>
          <p:nvPr/>
        </p:nvSpPr>
        <p:spPr>
          <a:xfrm>
            <a:off x="5683138" y="4619713"/>
            <a:ext cx="1168500" cy="360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EXIG_RCPT_ENERGIE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2b5b5480eb8_0_24"/>
          <p:cNvSpPr/>
          <p:nvPr/>
        </p:nvSpPr>
        <p:spPr>
          <a:xfrm>
            <a:off x="3215800" y="4248250"/>
            <a:ext cx="1872300" cy="1642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2b5b5480eb8_0_24"/>
          <p:cNvSpPr/>
          <p:nvPr/>
        </p:nvSpPr>
        <p:spPr>
          <a:xfrm>
            <a:off x="3332913" y="4595425"/>
            <a:ext cx="1584300" cy="408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ACCUMULATEUR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595"/>
              </a:spcBef>
              <a:spcAft>
                <a:spcPts val="59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LITHIUM-POLYMÈRE 2S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89" name="Google Shape;189;g2b5b5480eb8_0_24"/>
          <p:cNvSpPr/>
          <p:nvPr/>
        </p:nvSpPr>
        <p:spPr>
          <a:xfrm>
            <a:off x="5683138" y="5159075"/>
            <a:ext cx="1168500" cy="360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EXIG_RCPT_INTERRUPTEUR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g2b5b5480eb8_0_24"/>
          <p:cNvCxnSpPr>
            <a:stCxn id="189" idx="1"/>
            <a:endCxn id="191" idx="3"/>
          </p:cNvCxnSpPr>
          <p:nvPr/>
        </p:nvCxnSpPr>
        <p:spPr>
          <a:xfrm flipH="1">
            <a:off x="4917238" y="5339075"/>
            <a:ext cx="765900" cy="600"/>
          </a:xfrm>
          <a:prstGeom prst="bentConnector3">
            <a:avLst>
              <a:gd fmla="val 50002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" name="Google Shape;192;g2b5b5480eb8_0_24"/>
          <p:cNvCxnSpPr>
            <a:stCxn id="186" idx="1"/>
            <a:endCxn id="188" idx="3"/>
          </p:cNvCxnSpPr>
          <p:nvPr/>
        </p:nvCxnSpPr>
        <p:spPr>
          <a:xfrm flipH="1">
            <a:off x="4917238" y="4799713"/>
            <a:ext cx="765900" cy="600"/>
          </a:xfrm>
          <a:prstGeom prst="bentConnector3">
            <a:avLst>
              <a:gd fmla="val 50002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" name="Google Shape;191;g2b5b5480eb8_0_24"/>
          <p:cNvSpPr/>
          <p:nvPr/>
        </p:nvSpPr>
        <p:spPr>
          <a:xfrm>
            <a:off x="3332913" y="5177825"/>
            <a:ext cx="1584300" cy="3225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BOUTON PUSH-PULL </a:t>
            </a:r>
            <a:endParaRPr i="0" sz="400" u="none" cap="none" strike="noStrike">
              <a:solidFill>
                <a:schemeClr val="dk1"/>
              </a:solidFill>
            </a:endParaRPr>
          </a:p>
        </p:txBody>
      </p:sp>
      <p:sp>
        <p:nvSpPr>
          <p:cNvPr id="193" name="Google Shape;193;g2b5b5480eb8_0_24"/>
          <p:cNvSpPr/>
          <p:nvPr/>
        </p:nvSpPr>
        <p:spPr>
          <a:xfrm>
            <a:off x="6754913" y="1507775"/>
            <a:ext cx="975300" cy="360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EXIG_RCPT_INDICATEUR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2b5b5480eb8_0_24"/>
          <p:cNvSpPr/>
          <p:nvPr/>
        </p:nvSpPr>
        <p:spPr>
          <a:xfrm>
            <a:off x="6754900" y="1071775"/>
            <a:ext cx="975300" cy="360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EXIG_RCPT_CONNECTION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2b5b5480eb8_0_24"/>
          <p:cNvSpPr/>
          <p:nvPr/>
        </p:nvSpPr>
        <p:spPr>
          <a:xfrm>
            <a:off x="6754925" y="635775"/>
            <a:ext cx="975300" cy="360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</a:t>
            </a:r>
            <a:r>
              <a:rPr lang="fr-FR" sz="900">
                <a:solidFill>
                  <a:schemeClr val="dk1"/>
                </a:solidFill>
              </a:rPr>
              <a:t> KLAXON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g2b5b5480eb8_0_24"/>
          <p:cNvCxnSpPr>
            <a:stCxn id="194" idx="3"/>
            <a:endCxn id="175" idx="3"/>
          </p:cNvCxnSpPr>
          <p:nvPr/>
        </p:nvCxnSpPr>
        <p:spPr>
          <a:xfrm flipH="1">
            <a:off x="7569100" y="1251775"/>
            <a:ext cx="161100" cy="2540700"/>
          </a:xfrm>
          <a:prstGeom prst="bentConnector3">
            <a:avLst>
              <a:gd fmla="val -205028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7" name="Google Shape;197;g2b5b5480eb8_0_24"/>
          <p:cNvCxnSpPr>
            <a:stCxn id="193" idx="3"/>
            <a:endCxn id="173" idx="3"/>
          </p:cNvCxnSpPr>
          <p:nvPr/>
        </p:nvCxnSpPr>
        <p:spPr>
          <a:xfrm flipH="1">
            <a:off x="7569113" y="1687775"/>
            <a:ext cx="161100" cy="1851600"/>
          </a:xfrm>
          <a:prstGeom prst="bentConnector3">
            <a:avLst>
              <a:gd fmla="val -147812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" name="Google Shape;198;g2b5b5480eb8_0_24"/>
          <p:cNvCxnSpPr>
            <a:stCxn id="167" idx="1"/>
            <a:endCxn id="172" idx="1"/>
          </p:cNvCxnSpPr>
          <p:nvPr/>
        </p:nvCxnSpPr>
        <p:spPr>
          <a:xfrm>
            <a:off x="5754588" y="1687763"/>
            <a:ext cx="230100" cy="1250100"/>
          </a:xfrm>
          <a:prstGeom prst="bentConnector3">
            <a:avLst>
              <a:gd fmla="val -66433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" name="Google Shape;199;g2b5b5480eb8_0_24"/>
          <p:cNvCxnSpPr>
            <a:stCxn id="168" idx="1"/>
            <a:endCxn id="200" idx="1"/>
          </p:cNvCxnSpPr>
          <p:nvPr/>
        </p:nvCxnSpPr>
        <p:spPr>
          <a:xfrm>
            <a:off x="5754601" y="1251775"/>
            <a:ext cx="230100" cy="2026800"/>
          </a:xfrm>
          <a:prstGeom prst="bentConnector3">
            <a:avLst>
              <a:gd fmla="val -103488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" name="Google Shape;201;g2b5b5480eb8_0_24"/>
          <p:cNvCxnSpPr>
            <a:stCxn id="195" idx="3"/>
            <a:endCxn id="174" idx="3"/>
          </p:cNvCxnSpPr>
          <p:nvPr/>
        </p:nvCxnSpPr>
        <p:spPr>
          <a:xfrm flipH="1">
            <a:off x="7569125" y="815775"/>
            <a:ext cx="161100" cy="3232800"/>
          </a:xfrm>
          <a:prstGeom prst="bentConnector3">
            <a:avLst>
              <a:gd fmla="val -274984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0" name="Google Shape;200;g2b5b5480eb8_0_24"/>
          <p:cNvSpPr/>
          <p:nvPr/>
        </p:nvSpPr>
        <p:spPr>
          <a:xfrm>
            <a:off x="5984700" y="3142035"/>
            <a:ext cx="1584300" cy="273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SERVOMOTEUR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Hitec HS322HD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02" name="Google Shape;202;g2b5b5480eb8_0_24"/>
          <p:cNvSpPr txBox="1"/>
          <p:nvPr/>
        </p:nvSpPr>
        <p:spPr>
          <a:xfrm>
            <a:off x="5063000" y="2879475"/>
            <a:ext cx="3600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3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" name="Google Shape;203;g2b5b5480eb8_0_24"/>
          <p:cNvSpPr/>
          <p:nvPr/>
        </p:nvSpPr>
        <p:spPr>
          <a:xfrm>
            <a:off x="5325950" y="3239075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27BA0"/>
          </a:solidFill>
          <a:ln cap="flat" cmpd="sng" w="254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2b5b5480eb8_0_24"/>
          <p:cNvSpPr txBox="1"/>
          <p:nvPr/>
        </p:nvSpPr>
        <p:spPr>
          <a:xfrm>
            <a:off x="0" y="25800"/>
            <a:ext cx="235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Récepteur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2b5b5480eb8_0_24"/>
          <p:cNvSpPr txBox="1"/>
          <p:nvPr/>
        </p:nvSpPr>
        <p:spPr>
          <a:xfrm>
            <a:off x="6787313" y="0"/>
            <a:ext cx="235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lectronique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2b5b5480eb8_0_24"/>
          <p:cNvSpPr/>
          <p:nvPr/>
        </p:nvSpPr>
        <p:spPr>
          <a:xfrm>
            <a:off x="7172998" y="6310200"/>
            <a:ext cx="5472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-F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TOUS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2b5b5480eb8_0_24"/>
          <p:cNvSpPr/>
          <p:nvPr/>
        </p:nvSpPr>
        <p:spPr>
          <a:xfrm>
            <a:off x="7968662" y="5419725"/>
            <a:ext cx="942000" cy="360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EXIG_RCPT_DIMENSIONS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2b5b5480eb8_0_24"/>
          <p:cNvSpPr/>
          <p:nvPr/>
        </p:nvSpPr>
        <p:spPr>
          <a:xfrm>
            <a:off x="7968665" y="5841975"/>
            <a:ext cx="942000" cy="360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EXIG_RCPT_LOGO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2b5b5480eb8_0_24"/>
          <p:cNvSpPr/>
          <p:nvPr/>
        </p:nvSpPr>
        <p:spPr>
          <a:xfrm>
            <a:off x="7968665" y="4997463"/>
            <a:ext cx="942000" cy="360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EXIG_RCPT_DELAI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2b5b5480eb8_0_24"/>
          <p:cNvSpPr/>
          <p:nvPr/>
        </p:nvSpPr>
        <p:spPr>
          <a:xfrm>
            <a:off x="7968664" y="4575225"/>
            <a:ext cx="942000" cy="360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EXIG_RCPT_COUT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g2b5b5480eb8_0_24"/>
          <p:cNvCxnSpPr>
            <a:stCxn id="210" idx="1"/>
            <a:endCxn id="206" idx="0"/>
          </p:cNvCxnSpPr>
          <p:nvPr/>
        </p:nvCxnSpPr>
        <p:spPr>
          <a:xfrm flipH="1">
            <a:off x="7446664" y="4755225"/>
            <a:ext cx="522000" cy="1554900"/>
          </a:xfrm>
          <a:prstGeom prst="bentConnector2">
            <a:avLst/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2" name="Google Shape;212;g2b5b5480eb8_0_24"/>
          <p:cNvCxnSpPr>
            <a:stCxn id="209" idx="1"/>
            <a:endCxn id="206" idx="0"/>
          </p:cNvCxnSpPr>
          <p:nvPr/>
        </p:nvCxnSpPr>
        <p:spPr>
          <a:xfrm flipH="1">
            <a:off x="7446665" y="5177463"/>
            <a:ext cx="522000" cy="1132800"/>
          </a:xfrm>
          <a:prstGeom prst="bentConnector2">
            <a:avLst/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" name="Google Shape;213;g2b5b5480eb8_0_24"/>
          <p:cNvCxnSpPr>
            <a:stCxn id="207" idx="1"/>
            <a:endCxn id="206" idx="0"/>
          </p:cNvCxnSpPr>
          <p:nvPr/>
        </p:nvCxnSpPr>
        <p:spPr>
          <a:xfrm flipH="1">
            <a:off x="7446662" y="5599725"/>
            <a:ext cx="522000" cy="710400"/>
          </a:xfrm>
          <a:prstGeom prst="bentConnector2">
            <a:avLst/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" name="Google Shape;214;g2b5b5480eb8_0_24"/>
          <p:cNvCxnSpPr>
            <a:stCxn id="208" idx="1"/>
            <a:endCxn id="206" idx="0"/>
          </p:cNvCxnSpPr>
          <p:nvPr/>
        </p:nvCxnSpPr>
        <p:spPr>
          <a:xfrm flipH="1">
            <a:off x="7446665" y="6021975"/>
            <a:ext cx="522000" cy="288300"/>
          </a:xfrm>
          <a:prstGeom prst="bentConnector2">
            <a:avLst/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5" name="Google Shape;215;g2b5b5480eb8_0_24"/>
          <p:cNvSpPr/>
          <p:nvPr/>
        </p:nvSpPr>
        <p:spPr>
          <a:xfrm>
            <a:off x="412050" y="4712250"/>
            <a:ext cx="3375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27BA0"/>
          </a:solidFill>
          <a:ln cap="flat" cmpd="sng" w="254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2b5b5480eb8_0_24"/>
          <p:cNvSpPr txBox="1"/>
          <p:nvPr/>
        </p:nvSpPr>
        <p:spPr>
          <a:xfrm>
            <a:off x="749548" y="4632550"/>
            <a:ext cx="17631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électrique continue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2b5b5480eb8_0_24"/>
          <p:cNvSpPr/>
          <p:nvPr/>
        </p:nvSpPr>
        <p:spPr>
          <a:xfrm>
            <a:off x="5984675" y="2446600"/>
            <a:ext cx="15843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MOTEUR BRUSHLESS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Turnigy 28-22-CQ 1400Kv</a:t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218" name="Google Shape;218;g2b5b5480eb8_0_24"/>
          <p:cNvCxnSpPr>
            <a:stCxn id="167" idx="1"/>
            <a:endCxn id="217" idx="1"/>
          </p:cNvCxnSpPr>
          <p:nvPr/>
        </p:nvCxnSpPr>
        <p:spPr>
          <a:xfrm>
            <a:off x="5754588" y="1687763"/>
            <a:ext cx="230100" cy="902700"/>
          </a:xfrm>
          <a:prstGeom prst="bentConnector3">
            <a:avLst>
              <a:gd fmla="val -66433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8b0bc6b80_7_4"/>
          <p:cNvSpPr txBox="1"/>
          <p:nvPr/>
        </p:nvSpPr>
        <p:spPr>
          <a:xfrm>
            <a:off x="6766813" y="25"/>
            <a:ext cx="235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Informatique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268b0bc6b80_7_4"/>
          <p:cNvSpPr txBox="1"/>
          <p:nvPr/>
        </p:nvSpPr>
        <p:spPr>
          <a:xfrm>
            <a:off x="0" y="0"/>
            <a:ext cx="1431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Emetteur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268b0bc6b80_7_4"/>
          <p:cNvSpPr/>
          <p:nvPr/>
        </p:nvSpPr>
        <p:spPr>
          <a:xfrm>
            <a:off x="165000" y="1159875"/>
            <a:ext cx="861000" cy="355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/>
              <a:t>EXIG_EMTT_IHM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268b0bc6b80_7_4"/>
          <p:cNvSpPr/>
          <p:nvPr/>
        </p:nvSpPr>
        <p:spPr>
          <a:xfrm>
            <a:off x="1306800" y="1159875"/>
            <a:ext cx="861000" cy="355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EXIG_EMTT_</a:t>
            </a:r>
            <a:r>
              <a:rPr lang="fr-FR" sz="900"/>
              <a:t>KLAXON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268b0bc6b80_7_4"/>
          <p:cNvSpPr/>
          <p:nvPr/>
        </p:nvSpPr>
        <p:spPr>
          <a:xfrm>
            <a:off x="2952550" y="618525"/>
            <a:ext cx="963300" cy="355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EXIG_EMTT_</a:t>
            </a:r>
            <a:r>
              <a:rPr lang="fr-FR" sz="900"/>
              <a:t>TRAITEMENT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268b0bc6b80_7_4"/>
          <p:cNvSpPr/>
          <p:nvPr/>
        </p:nvSpPr>
        <p:spPr>
          <a:xfrm>
            <a:off x="5602825" y="618525"/>
            <a:ext cx="963300" cy="355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EXIG_EMTT_</a:t>
            </a:r>
            <a:r>
              <a:rPr lang="fr-FR" sz="900"/>
              <a:t>REPETITIVITE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268b0bc6b80_7_4"/>
          <p:cNvSpPr/>
          <p:nvPr/>
        </p:nvSpPr>
        <p:spPr>
          <a:xfrm>
            <a:off x="4122813" y="618525"/>
            <a:ext cx="1066800" cy="355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EXIG_EMTT_</a:t>
            </a:r>
            <a:r>
              <a:rPr lang="fr-FR" sz="900"/>
              <a:t>RETENTISSEMENT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268b0bc6b80_7_4"/>
          <p:cNvSpPr/>
          <p:nvPr/>
        </p:nvSpPr>
        <p:spPr>
          <a:xfrm>
            <a:off x="7546763" y="910763"/>
            <a:ext cx="1080000" cy="355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EXIG_EMTT_</a:t>
            </a:r>
            <a:r>
              <a:rPr lang="fr-FR" sz="900"/>
              <a:t>PUISSANCE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268b0bc6b80_7_4"/>
          <p:cNvSpPr/>
          <p:nvPr/>
        </p:nvSpPr>
        <p:spPr>
          <a:xfrm>
            <a:off x="2299895" y="3932019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268b0bc6b80_7_4"/>
          <p:cNvSpPr/>
          <p:nvPr/>
        </p:nvSpPr>
        <p:spPr>
          <a:xfrm>
            <a:off x="6766822" y="3804931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268b0bc6b80_7_4"/>
          <p:cNvSpPr/>
          <p:nvPr/>
        </p:nvSpPr>
        <p:spPr>
          <a:xfrm>
            <a:off x="165000" y="1657325"/>
            <a:ext cx="2002800" cy="48054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ACQUISITION D’INFORMATIONS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268b0bc6b80_7_4"/>
          <p:cNvSpPr/>
          <p:nvPr/>
        </p:nvSpPr>
        <p:spPr>
          <a:xfrm>
            <a:off x="2719225" y="1631100"/>
            <a:ext cx="4018500" cy="48555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TRAITEMENT D’INFORMATIONS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268b0bc6b80_7_4"/>
          <p:cNvSpPr/>
          <p:nvPr/>
        </p:nvSpPr>
        <p:spPr>
          <a:xfrm>
            <a:off x="7155900" y="1607325"/>
            <a:ext cx="1918200" cy="48555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268b0bc6b80_7_4"/>
          <p:cNvSpPr/>
          <p:nvPr/>
        </p:nvSpPr>
        <p:spPr>
          <a:xfrm>
            <a:off x="2790350" y="1995225"/>
            <a:ext cx="1781700" cy="1939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 Algorithme(void)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Exécute l’algorithme comme défini dans le ALGORIGRAMME fourni </a:t>
            </a:r>
            <a:r>
              <a:rPr lang="fr-FR" sz="800"/>
              <a:t>en diapo 5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Generedonnee (unit8_t vitesse, unit8_t direction)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Memetrame(unit8_t new_trame , unit8_t last_trame)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Aucun paramètre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 retourne rien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268b0bc6b80_7_4"/>
          <p:cNvSpPr/>
          <p:nvPr/>
        </p:nvSpPr>
        <p:spPr>
          <a:xfrm>
            <a:off x="7240925" y="2310225"/>
            <a:ext cx="1691700" cy="15843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 </a:t>
            </a:r>
            <a:r>
              <a:rPr lang="fr-FR" sz="800"/>
              <a:t>GenererTrameNEC(uint8_t numero_broche, uint8_t adresse, uint8_t donnee)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fr-FR" sz="800"/>
              <a:t>Émet protocole NEC a partir de l’adresse et des données spécifiée</a:t>
            </a:r>
            <a:endParaRPr sz="800"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fr-FR" sz="800"/>
              <a:t>Envoie la trame NEC dans la broches spécifiée</a:t>
            </a:r>
            <a:endParaRPr sz="800"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 retourne rien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268b0bc6b80_7_4"/>
          <p:cNvSpPr/>
          <p:nvPr/>
        </p:nvSpPr>
        <p:spPr>
          <a:xfrm>
            <a:off x="270277" y="4729425"/>
            <a:ext cx="1781700" cy="100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uint8_t Acquerir</a:t>
            </a:r>
            <a:r>
              <a:rPr lang="fr-FR" sz="800"/>
              <a:t>Klaxon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fr-FR" sz="800"/>
              <a:t>bool klaxon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lang="fr-FR" sz="800"/>
              <a:t>L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la valeur logique du bouton poussoir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lang="fr-FR" sz="800"/>
              <a:t>R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etourne :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: bouton relâché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: bouton appuyé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268b0bc6b80_7_4"/>
          <p:cNvSpPr/>
          <p:nvPr/>
        </p:nvSpPr>
        <p:spPr>
          <a:xfrm>
            <a:off x="270275" y="2310225"/>
            <a:ext cx="1781700" cy="100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uint</a:t>
            </a:r>
            <a:r>
              <a:rPr lang="fr-FR" sz="800"/>
              <a:t>8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_t 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Acquerir</a:t>
            </a:r>
            <a:r>
              <a:rPr lang="fr-FR" sz="800">
                <a:solidFill>
                  <a:schemeClr val="dk1"/>
                </a:solidFill>
              </a:rPr>
              <a:t>Vitesse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fr-FR" sz="800"/>
              <a:t>uint16_t valPotarVitesse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lang="fr-FR" sz="800"/>
              <a:t>L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la valeur analogique du </a:t>
            </a:r>
            <a:r>
              <a:rPr lang="fr-FR" sz="800"/>
              <a:t>potentiomètre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correspondant à </a:t>
            </a:r>
            <a:r>
              <a:rPr lang="fr-FR" sz="800"/>
              <a:t>la vitesse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lang="fr-FR" sz="800"/>
              <a:t>R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etourne :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[0;1023] : position du potentiomètre</a:t>
            </a:r>
            <a:endParaRPr sz="800"/>
          </a:p>
        </p:txBody>
      </p:sp>
      <p:cxnSp>
        <p:nvCxnSpPr>
          <p:cNvPr id="241" name="Google Shape;241;g268b0bc6b80_7_4"/>
          <p:cNvCxnSpPr>
            <a:stCxn id="226" idx="1"/>
            <a:endCxn id="240" idx="1"/>
          </p:cNvCxnSpPr>
          <p:nvPr/>
        </p:nvCxnSpPr>
        <p:spPr>
          <a:xfrm>
            <a:off x="165000" y="1337475"/>
            <a:ext cx="105300" cy="1476900"/>
          </a:xfrm>
          <a:prstGeom prst="bentConnector3">
            <a:avLst>
              <a:gd fmla="val -69421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" name="Google Shape;242;g268b0bc6b80_7_4"/>
          <p:cNvCxnSpPr>
            <a:stCxn id="227" idx="3"/>
            <a:endCxn id="239" idx="3"/>
          </p:cNvCxnSpPr>
          <p:nvPr/>
        </p:nvCxnSpPr>
        <p:spPr>
          <a:xfrm flipH="1">
            <a:off x="2052000" y="1337475"/>
            <a:ext cx="115800" cy="3896100"/>
          </a:xfrm>
          <a:prstGeom prst="bentConnector3">
            <a:avLst>
              <a:gd fmla="val -205635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" name="Google Shape;243;g268b0bc6b80_7_4"/>
          <p:cNvCxnSpPr>
            <a:stCxn id="231" idx="2"/>
            <a:endCxn id="238" idx="0"/>
          </p:cNvCxnSpPr>
          <p:nvPr/>
        </p:nvCxnSpPr>
        <p:spPr>
          <a:xfrm flipH="1" rot="-5400000">
            <a:off x="7564913" y="1787813"/>
            <a:ext cx="1044300" cy="6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4" name="Google Shape;244;g268b0bc6b80_7_4"/>
          <p:cNvSpPr/>
          <p:nvPr/>
        </p:nvSpPr>
        <p:spPr>
          <a:xfrm>
            <a:off x="2300407" y="3564918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268b0bc6b80_7_4"/>
          <p:cNvSpPr/>
          <p:nvPr/>
        </p:nvSpPr>
        <p:spPr>
          <a:xfrm>
            <a:off x="2300420" y="4299144"/>
            <a:ext cx="3600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g268b0bc6b80_7_4"/>
          <p:cNvCxnSpPr>
            <a:stCxn id="229" idx="2"/>
            <a:endCxn id="237" idx="1"/>
          </p:cNvCxnSpPr>
          <p:nvPr/>
        </p:nvCxnSpPr>
        <p:spPr>
          <a:xfrm rot="5400000">
            <a:off x="3441925" y="322275"/>
            <a:ext cx="1991100" cy="3294000"/>
          </a:xfrm>
          <a:prstGeom prst="bentConnector4">
            <a:avLst>
              <a:gd fmla="val 25652" name="adj1"/>
              <a:gd fmla="val 105403" name="adj2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7" name="Google Shape;247;g268b0bc6b80_7_4"/>
          <p:cNvCxnSpPr>
            <a:stCxn id="230" idx="2"/>
            <a:endCxn id="237" idx="1"/>
          </p:cNvCxnSpPr>
          <p:nvPr/>
        </p:nvCxnSpPr>
        <p:spPr>
          <a:xfrm rot="5400000">
            <a:off x="2727663" y="1036275"/>
            <a:ext cx="1991100" cy="1866000"/>
          </a:xfrm>
          <a:prstGeom prst="bentConnector4">
            <a:avLst>
              <a:gd fmla="val 25652" name="adj1"/>
              <a:gd fmla="val 109638" name="adj2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8" name="Google Shape;248;g268b0bc6b80_7_4"/>
          <p:cNvSpPr/>
          <p:nvPr/>
        </p:nvSpPr>
        <p:spPr>
          <a:xfrm>
            <a:off x="4756675" y="1995225"/>
            <a:ext cx="1865700" cy="25914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bool </a:t>
            </a:r>
            <a:r>
              <a:rPr lang="fr-FR" sz="800">
                <a:solidFill>
                  <a:schemeClr val="dk1"/>
                </a:solidFill>
              </a:rPr>
              <a:t>OkToSend(uint8_t adresse, uint8_t donnee)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Triple condition d’envoi :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fr-FR" sz="800">
                <a:solidFill>
                  <a:schemeClr val="dk1"/>
                </a:solidFill>
              </a:rPr>
              <a:t>Donnee &lt;&gt; Donnee_precedente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ou</a:t>
            </a:r>
            <a:endParaRPr sz="800">
              <a:solidFill>
                <a:schemeClr val="dk1"/>
              </a:solidFill>
            </a:endParaRPr>
          </a:p>
          <a:p>
            <a:pPr indent="-279400" lvl="0" marL="45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fr-FR" sz="800">
                <a:solidFill>
                  <a:schemeClr val="dk1"/>
                </a:solidFill>
              </a:rPr>
              <a:t>Adresse &lt;&gt; Adresse_precedente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ou</a:t>
            </a:r>
            <a:endParaRPr sz="800">
              <a:solidFill>
                <a:schemeClr val="dk1"/>
              </a:solidFill>
            </a:endParaRPr>
          </a:p>
          <a:p>
            <a:pPr indent="-279400" lvl="0" marL="45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fr-FR" sz="800">
                <a:solidFill>
                  <a:schemeClr val="dk1"/>
                </a:solidFill>
              </a:rPr>
              <a:t>t &gt; (t_envoi_precedent +333ms)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Garder en mémoire l’adresse dans Adresse_précédente</a:t>
            </a:r>
            <a:endParaRPr sz="800">
              <a:solidFill>
                <a:schemeClr val="dk1"/>
              </a:solidFill>
            </a:endParaRPr>
          </a:p>
          <a:p>
            <a:pPr indent="-279400" lvl="0" marL="45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Garder en mémoire la donnée dans Donnee_précédente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retourne 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0 : si l’une des conditions est fausse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1 : si l’une des conditions est vraie</a:t>
            </a:r>
            <a:endParaRPr sz="800"/>
          </a:p>
        </p:txBody>
      </p:sp>
      <p:sp>
        <p:nvSpPr>
          <p:cNvPr id="249" name="Google Shape;249;g268b0bc6b80_7_4"/>
          <p:cNvSpPr/>
          <p:nvPr/>
        </p:nvSpPr>
        <p:spPr>
          <a:xfrm>
            <a:off x="2774400" y="4076125"/>
            <a:ext cx="1797600" cy="21147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uint8_t CalculerDonnee(uint16_t vitesse, uint16_t direct)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récupère les position des 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potentiomètres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génère une donnée codée sur 8 bits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retourne 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donnée direction + vitesse coder sur 8 bits</a:t>
            </a:r>
            <a:endParaRPr sz="800"/>
          </a:p>
        </p:txBody>
      </p:sp>
      <p:sp>
        <p:nvSpPr>
          <p:cNvPr id="250" name="Google Shape;250;g268b0bc6b80_7_4"/>
          <p:cNvSpPr/>
          <p:nvPr/>
        </p:nvSpPr>
        <p:spPr>
          <a:xfrm>
            <a:off x="4765275" y="4713925"/>
            <a:ext cx="1865700" cy="14769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uint8_t </a:t>
            </a:r>
            <a:r>
              <a:rPr lang="fr-FR" sz="800">
                <a:solidFill>
                  <a:schemeClr val="dk1"/>
                </a:solidFill>
              </a:rPr>
              <a:t>CalculerAdresse(bool klaxon)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change la bit de poid fort de l’adresse pour </a:t>
            </a:r>
            <a:r>
              <a:rPr lang="fr-FR" sz="800">
                <a:solidFill>
                  <a:schemeClr val="dk1"/>
                </a:solidFill>
              </a:rPr>
              <a:t>refléter</a:t>
            </a:r>
            <a:r>
              <a:rPr lang="fr-FR" sz="800">
                <a:solidFill>
                  <a:schemeClr val="dk1"/>
                </a:solidFill>
              </a:rPr>
              <a:t> l’activation du klaxon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retourne : Octet d’adresse avec  bit de poid fort =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0 : Klaxon inactif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1 : bouton actif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251" name="Google Shape;251;g268b0bc6b80_7_4"/>
          <p:cNvCxnSpPr>
            <a:stCxn id="228" idx="2"/>
            <a:endCxn id="237" idx="1"/>
          </p:cNvCxnSpPr>
          <p:nvPr/>
        </p:nvCxnSpPr>
        <p:spPr>
          <a:xfrm rot="5400000">
            <a:off x="2116750" y="1647375"/>
            <a:ext cx="1991100" cy="643800"/>
          </a:xfrm>
          <a:prstGeom prst="bentConnector4">
            <a:avLst>
              <a:gd fmla="val 25644" name="adj1"/>
              <a:gd fmla="val 127963" name="adj2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" name="Google Shape;252;g268b0bc6b80_7_4"/>
          <p:cNvCxnSpPr>
            <a:stCxn id="228" idx="0"/>
            <a:endCxn id="249" idx="1"/>
          </p:cNvCxnSpPr>
          <p:nvPr/>
        </p:nvCxnSpPr>
        <p:spPr>
          <a:xfrm rot="5400000">
            <a:off x="846850" y="2546175"/>
            <a:ext cx="4515000" cy="659700"/>
          </a:xfrm>
          <a:prstGeom prst="bentConnector4">
            <a:avLst>
              <a:gd fmla="val -6220" name="adj1"/>
              <a:gd fmla="val 136111" name="adj2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3" name="Google Shape;253;g268b0bc6b80_7_4"/>
          <p:cNvSpPr/>
          <p:nvPr/>
        </p:nvSpPr>
        <p:spPr>
          <a:xfrm>
            <a:off x="270275" y="3424725"/>
            <a:ext cx="1781700" cy="11523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uint</a:t>
            </a:r>
            <a:r>
              <a:rPr lang="fr-FR" sz="800"/>
              <a:t>8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_t</a:t>
            </a:r>
            <a:r>
              <a:rPr lang="fr-FR" sz="800"/>
              <a:t> 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Acquerir</a:t>
            </a:r>
            <a:r>
              <a:rPr lang="fr-FR" sz="800">
                <a:solidFill>
                  <a:schemeClr val="dk1"/>
                </a:solidFill>
              </a:rPr>
              <a:t>DirectionKart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fr-FR" sz="800"/>
              <a:t>uint16_t </a:t>
            </a:r>
            <a:r>
              <a:rPr lang="fr-FR" sz="800">
                <a:solidFill>
                  <a:schemeClr val="dk1"/>
                </a:solidFill>
              </a:rPr>
              <a:t>valPotarDirection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lang="fr-FR" sz="800"/>
              <a:t>L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la valeur analogique du </a:t>
            </a:r>
            <a:r>
              <a:rPr lang="fr-FR" sz="800"/>
              <a:t>potentiomètre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correspondant à </a:t>
            </a:r>
            <a:r>
              <a:rPr lang="fr-FR" sz="800"/>
              <a:t>la direction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lang="fr-FR" sz="800"/>
              <a:t>R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etourne :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[0;1023] : position du potentiomètre</a:t>
            </a:r>
            <a:endParaRPr sz="800"/>
          </a:p>
        </p:txBody>
      </p:sp>
      <p:cxnSp>
        <p:nvCxnSpPr>
          <p:cNvPr id="254" name="Google Shape;254;g268b0bc6b80_7_4"/>
          <p:cNvCxnSpPr>
            <a:stCxn id="229" idx="3"/>
            <a:endCxn id="248" idx="3"/>
          </p:cNvCxnSpPr>
          <p:nvPr/>
        </p:nvCxnSpPr>
        <p:spPr>
          <a:xfrm>
            <a:off x="6566125" y="796125"/>
            <a:ext cx="56400" cy="2494800"/>
          </a:xfrm>
          <a:prstGeom prst="bentConnector3">
            <a:avLst>
              <a:gd fmla="val 521941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" name="Google Shape;255;g268b0bc6b80_7_4"/>
          <p:cNvCxnSpPr>
            <a:stCxn id="226" idx="1"/>
            <a:endCxn id="253" idx="1"/>
          </p:cNvCxnSpPr>
          <p:nvPr/>
        </p:nvCxnSpPr>
        <p:spPr>
          <a:xfrm>
            <a:off x="165000" y="1337475"/>
            <a:ext cx="105300" cy="2663400"/>
          </a:xfrm>
          <a:prstGeom prst="bentConnector3">
            <a:avLst>
              <a:gd fmla="val -85755" name="adj1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" name="Google Shape;256;g268b0bc6b80_7_4"/>
          <p:cNvCxnSpPr>
            <a:stCxn id="230" idx="0"/>
            <a:endCxn id="250" idx="3"/>
          </p:cNvCxnSpPr>
          <p:nvPr/>
        </p:nvCxnSpPr>
        <p:spPr>
          <a:xfrm flipH="1" rot="-5400000">
            <a:off x="3226713" y="2048025"/>
            <a:ext cx="4833900" cy="1974900"/>
          </a:xfrm>
          <a:prstGeom prst="bentConnector4">
            <a:avLst>
              <a:gd fmla="val -4926" name="adj1"/>
              <a:gd fmla="val 114905" name="adj2"/>
            </a:avLst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68b0bc6b80_7_63"/>
          <p:cNvSpPr txBox="1"/>
          <p:nvPr/>
        </p:nvSpPr>
        <p:spPr>
          <a:xfrm>
            <a:off x="0" y="0"/>
            <a:ext cx="235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Récepteur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268b0bc6b80_7_63"/>
          <p:cNvSpPr txBox="1"/>
          <p:nvPr/>
        </p:nvSpPr>
        <p:spPr>
          <a:xfrm>
            <a:off x="6787313" y="0"/>
            <a:ext cx="235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Informatique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268b0bc6b80_7_63"/>
          <p:cNvSpPr/>
          <p:nvPr/>
        </p:nvSpPr>
        <p:spPr>
          <a:xfrm>
            <a:off x="122400" y="787625"/>
            <a:ext cx="9156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EXIG_RCPT_CAPTEUR</a:t>
            </a:r>
            <a:endParaRPr i="0" sz="600" cap="none" strike="noStrike">
              <a:solidFill>
                <a:srgbClr val="000000"/>
              </a:solidFill>
            </a:endParaRPr>
          </a:p>
        </p:txBody>
      </p:sp>
      <p:sp>
        <p:nvSpPr>
          <p:cNvPr id="265" name="Google Shape;265;g268b0bc6b80_7_63"/>
          <p:cNvSpPr/>
          <p:nvPr/>
        </p:nvSpPr>
        <p:spPr>
          <a:xfrm>
            <a:off x="2864474" y="787625"/>
            <a:ext cx="9156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EXIG_RCPT_TRAITEMENT</a:t>
            </a:r>
            <a:endParaRPr i="0" sz="900" u="none" cap="none" strike="noStrike">
              <a:solidFill>
                <a:srgbClr val="000000"/>
              </a:solidFill>
            </a:endParaRPr>
          </a:p>
        </p:txBody>
      </p:sp>
      <p:sp>
        <p:nvSpPr>
          <p:cNvPr id="266" name="Google Shape;266;g268b0bc6b80_7_63"/>
          <p:cNvSpPr/>
          <p:nvPr/>
        </p:nvSpPr>
        <p:spPr>
          <a:xfrm>
            <a:off x="6787012" y="787625"/>
            <a:ext cx="9483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EXIG_RCPT_ROUE</a:t>
            </a:r>
            <a:endParaRPr i="0" sz="600" u="none" cap="none" strike="noStrike">
              <a:solidFill>
                <a:srgbClr val="000000"/>
              </a:solidFill>
            </a:endParaRPr>
          </a:p>
        </p:txBody>
      </p:sp>
      <p:sp>
        <p:nvSpPr>
          <p:cNvPr id="267" name="Google Shape;267;g268b0bc6b80_7_63"/>
          <p:cNvSpPr/>
          <p:nvPr/>
        </p:nvSpPr>
        <p:spPr>
          <a:xfrm>
            <a:off x="7437087" y="1223600"/>
            <a:ext cx="9483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EXIG_RCPT_MOTEUR</a:t>
            </a:r>
            <a:endParaRPr i="0" sz="600" u="none" cap="none" strike="noStrike">
              <a:solidFill>
                <a:srgbClr val="000000"/>
              </a:solidFill>
            </a:endParaRPr>
          </a:p>
        </p:txBody>
      </p:sp>
      <p:sp>
        <p:nvSpPr>
          <p:cNvPr id="268" name="Google Shape;268;g268b0bc6b80_7_63"/>
          <p:cNvSpPr/>
          <p:nvPr/>
        </p:nvSpPr>
        <p:spPr>
          <a:xfrm>
            <a:off x="2254527" y="3944325"/>
            <a:ext cx="2778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268b0bc6b80_7_63"/>
          <p:cNvSpPr/>
          <p:nvPr/>
        </p:nvSpPr>
        <p:spPr>
          <a:xfrm>
            <a:off x="6076251" y="3944325"/>
            <a:ext cx="322500" cy="14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268b0bc6b80_7_63"/>
          <p:cNvSpPr/>
          <p:nvPr/>
        </p:nvSpPr>
        <p:spPr>
          <a:xfrm>
            <a:off x="66075" y="1630075"/>
            <a:ext cx="2172300" cy="48987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ACQUISITION D’INFORMATIONS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268b0bc6b80_7_63"/>
          <p:cNvSpPr/>
          <p:nvPr/>
        </p:nvSpPr>
        <p:spPr>
          <a:xfrm>
            <a:off x="2515400" y="1636375"/>
            <a:ext cx="3503100" cy="48987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TRAITEMENT D’INFORMATIONS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268b0bc6b80_7_63"/>
          <p:cNvSpPr/>
          <p:nvPr/>
        </p:nvSpPr>
        <p:spPr>
          <a:xfrm>
            <a:off x="6456500" y="1630075"/>
            <a:ext cx="2418900" cy="5133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268b0bc6b80_7_63"/>
          <p:cNvSpPr/>
          <p:nvPr/>
        </p:nvSpPr>
        <p:spPr>
          <a:xfrm>
            <a:off x="2596750" y="1919125"/>
            <a:ext cx="3348300" cy="10023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 Algorithme(void)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Exécute l’algorithme de jeu comme défini dans le ALGORIGRAMME fourni </a:t>
            </a:r>
            <a:r>
              <a:rPr lang="fr-FR" sz="800"/>
              <a:t>en diapo 6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Aucun paramètre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 retourne rien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268b0bc6b80_7_63"/>
          <p:cNvSpPr/>
          <p:nvPr/>
        </p:nvSpPr>
        <p:spPr>
          <a:xfrm>
            <a:off x="122400" y="2216050"/>
            <a:ext cx="2052300" cy="30168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/>
              <a:t>int8_t AcquerirTrameNEC(uint8_t adresse, uint8_t donnee)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fr-FR" sz="800">
                <a:highlight>
                  <a:schemeClr val="lt1"/>
                </a:highlight>
              </a:rPr>
              <a:t>Lire la broche du récepteur infrarouge</a:t>
            </a:r>
            <a:endParaRPr sz="800">
              <a:highlight>
                <a:schemeClr val="lt1"/>
              </a:highlight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fr-FR" sz="800">
                <a:solidFill>
                  <a:schemeClr val="dk1"/>
                </a:solidFill>
                <a:highlight>
                  <a:schemeClr val="lt1"/>
                </a:highlight>
              </a:rPr>
              <a:t>La broche du récepteur infrarouge est une constante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fr-FR" sz="800">
                <a:solidFill>
                  <a:schemeClr val="dk1"/>
                </a:solidFill>
                <a:highlight>
                  <a:schemeClr val="lt1"/>
                </a:highlight>
              </a:rPr>
              <a:t>Retourne une valeur en booleen sur la conformité de la trame NEC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highlight>
                  <a:schemeClr val="lt1"/>
                </a:highlight>
              </a:rPr>
              <a:t>0 : trame NEC valide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highlight>
                  <a:schemeClr val="lt1"/>
                </a:highlight>
              </a:rPr>
              <a:t>-1 : trame NEC invalide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highlight>
                  <a:schemeClr val="lt1"/>
                </a:highlight>
              </a:rPr>
              <a:t>-2 : trame absente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  <a:highlight>
                  <a:schemeClr val="lt1"/>
                </a:highlight>
              </a:rPr>
              <a:t>Retourne la trame NEC si bonne conformité (uint8_t adresse et uint8_t Donnee)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75" name="Google Shape;275;g268b0bc6b80_7_63"/>
          <p:cNvSpPr/>
          <p:nvPr/>
        </p:nvSpPr>
        <p:spPr>
          <a:xfrm>
            <a:off x="6528250" y="3093575"/>
            <a:ext cx="2303700" cy="11589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 Piloter</a:t>
            </a:r>
            <a:r>
              <a:rPr lang="fr-FR" sz="800"/>
              <a:t>Klaxon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fr-FR" sz="800"/>
              <a:t>uint_1 klaxon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génère un signal carré afin de faire retentir ou arrêter le buzzer en fonction du paramètre d</a:t>
            </a:r>
            <a:r>
              <a:rPr lang="fr-FR" sz="800"/>
              <a:t>’état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La broche du buzzer est une constante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paramètre état 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[0;1] état allumé (1) ou éteint (0) du klaxon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</a:rPr>
              <a:t>Ne retourne rien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76" name="Google Shape;276;g268b0bc6b80_7_63"/>
          <p:cNvSpPr/>
          <p:nvPr/>
        </p:nvSpPr>
        <p:spPr>
          <a:xfrm>
            <a:off x="5699688" y="817125"/>
            <a:ext cx="9483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EXIG_RCPT_CONNEXION</a:t>
            </a:r>
            <a:endParaRPr i="0" sz="300" u="none" cap="none" strike="noStrike">
              <a:solidFill>
                <a:srgbClr val="000000"/>
              </a:solidFill>
            </a:endParaRPr>
          </a:p>
        </p:txBody>
      </p:sp>
      <p:sp>
        <p:nvSpPr>
          <p:cNvPr id="277" name="Google Shape;277;g268b0bc6b80_7_63"/>
          <p:cNvSpPr/>
          <p:nvPr/>
        </p:nvSpPr>
        <p:spPr>
          <a:xfrm>
            <a:off x="7965225" y="817113"/>
            <a:ext cx="9483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EXIG_RCPT_KLAXON</a:t>
            </a:r>
            <a:endParaRPr i="0" sz="300" u="none" cap="none" strike="noStrike">
              <a:solidFill>
                <a:srgbClr val="000000"/>
              </a:solidFill>
            </a:endParaRPr>
          </a:p>
        </p:txBody>
      </p:sp>
      <p:sp>
        <p:nvSpPr>
          <p:cNvPr id="278" name="Google Shape;278;g268b0bc6b80_7_63"/>
          <p:cNvSpPr/>
          <p:nvPr/>
        </p:nvSpPr>
        <p:spPr>
          <a:xfrm>
            <a:off x="4002250" y="787625"/>
            <a:ext cx="1321200" cy="288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RETENTISSEMENT</a:t>
            </a:r>
            <a:endParaRPr i="0" sz="900" u="none" cap="none" strike="noStrike">
              <a:solidFill>
                <a:srgbClr val="000000"/>
              </a:solidFill>
            </a:endParaRPr>
          </a:p>
        </p:txBody>
      </p:sp>
      <p:sp>
        <p:nvSpPr>
          <p:cNvPr id="279" name="Google Shape;279;g268b0bc6b80_7_63"/>
          <p:cNvSpPr/>
          <p:nvPr/>
        </p:nvSpPr>
        <p:spPr>
          <a:xfrm>
            <a:off x="1862563" y="726128"/>
            <a:ext cx="915600" cy="411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EXIG_RCPT_SECURITE</a:t>
            </a:r>
            <a:endParaRPr i="0" sz="900" u="none" cap="none" strike="noStrike">
              <a:solidFill>
                <a:srgbClr val="000000"/>
              </a:solidFill>
            </a:endParaRPr>
          </a:p>
        </p:txBody>
      </p:sp>
      <p:sp>
        <p:nvSpPr>
          <p:cNvPr id="280" name="Google Shape;280;g268b0bc6b80_7_63"/>
          <p:cNvSpPr/>
          <p:nvPr/>
        </p:nvSpPr>
        <p:spPr>
          <a:xfrm>
            <a:off x="6526150" y="4307050"/>
            <a:ext cx="2303700" cy="11589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 </a:t>
            </a:r>
            <a:r>
              <a:rPr lang="fr-FR" sz="800"/>
              <a:t>PiloterLedBleue 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(uint</a:t>
            </a:r>
            <a:r>
              <a:rPr lang="fr-FR" sz="800"/>
              <a:t>1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_t </a:t>
            </a:r>
            <a:r>
              <a:rPr lang="fr-FR" sz="800"/>
              <a:t>etat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active ou non la LED Bleu en fonction du paramètre d’état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La broche de la led est une constante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paramètre état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0 : </a:t>
            </a:r>
            <a:r>
              <a:rPr lang="fr-FR" sz="800">
                <a:solidFill>
                  <a:schemeClr val="dk1"/>
                </a:solidFill>
                <a:highlight>
                  <a:schemeClr val="lt1"/>
                </a:highlight>
              </a:rPr>
              <a:t>Led éteinte (Mauvaise réception)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1 : Led allumé (Bonne réception)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Ne retourne rien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268b0bc6b80_7_63"/>
          <p:cNvSpPr/>
          <p:nvPr/>
        </p:nvSpPr>
        <p:spPr>
          <a:xfrm>
            <a:off x="6528250" y="5520525"/>
            <a:ext cx="2303700" cy="11589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void </a:t>
            </a:r>
            <a:r>
              <a:rPr lang="fr-FR" sz="800"/>
              <a:t>PiloterMoteu</a:t>
            </a:r>
            <a:r>
              <a:rPr lang="fr-FR" sz="800"/>
              <a:t>r 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(uint</a:t>
            </a:r>
            <a:r>
              <a:rPr lang="fr-FR" sz="800"/>
              <a:t>4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_t </a:t>
            </a:r>
            <a:r>
              <a:rPr lang="fr-FR" sz="800"/>
              <a:t>vitesse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lang="fr-FR" sz="800"/>
              <a:t>réception de valeur de la puissance </a:t>
            </a:r>
            <a:endParaRPr sz="800">
              <a:highlight>
                <a:srgbClr val="FFFF00"/>
              </a:highlight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lang="fr-FR" sz="800"/>
              <a:t>accélération par PWM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La broche du moteur est une constante</a:t>
            </a:r>
            <a:endParaRPr sz="800"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paramètre </a:t>
            </a:r>
            <a:r>
              <a:rPr lang="fr-FR" sz="800"/>
              <a:t>état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highlight>
                  <a:schemeClr val="lt1"/>
                </a:highlight>
              </a:rPr>
              <a:t>[0;100]</a:t>
            </a:r>
            <a:r>
              <a:rPr lang="fr-FR" sz="800"/>
              <a:t> rapport cyclique en %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Ne retourne rien</a:t>
            </a:r>
            <a:endParaRPr sz="800"/>
          </a:p>
        </p:txBody>
      </p:sp>
      <p:sp>
        <p:nvSpPr>
          <p:cNvPr id="282" name="Google Shape;282;g268b0bc6b80_7_63"/>
          <p:cNvSpPr/>
          <p:nvPr/>
        </p:nvSpPr>
        <p:spPr>
          <a:xfrm>
            <a:off x="2588638" y="3009400"/>
            <a:ext cx="1614900" cy="17970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uint4_t vitesse </a:t>
            </a:r>
            <a:r>
              <a:rPr lang="fr-FR" sz="800"/>
              <a:t>ExtraireVitesse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(uint8_t </a:t>
            </a:r>
            <a:r>
              <a:rPr lang="fr-FR" sz="800"/>
              <a:t>Donnee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fr-FR" sz="800"/>
              <a:t>Récupère les 4 bits de vitesse dans la variable donnee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paramètre </a:t>
            </a:r>
            <a:r>
              <a:rPr lang="fr-FR" sz="800"/>
              <a:t>état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vitesse moteur sur 4 bits (0000 : 0 jusqu’à 1111 : 15)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Retourne la valeur de la vitesse du moteur brushless en binaire (</a:t>
            </a:r>
            <a:r>
              <a:rPr lang="fr-FR" sz="800">
                <a:solidFill>
                  <a:schemeClr val="dk1"/>
                </a:solidFill>
              </a:rPr>
              <a:t>uint4_t vitesse</a:t>
            </a:r>
            <a:r>
              <a:rPr lang="fr-FR" sz="800"/>
              <a:t>)</a:t>
            </a:r>
            <a:endParaRPr sz="800"/>
          </a:p>
        </p:txBody>
      </p:sp>
      <p:sp>
        <p:nvSpPr>
          <p:cNvPr id="283" name="Google Shape;283;g268b0bc6b80_7_63"/>
          <p:cNvSpPr/>
          <p:nvPr/>
        </p:nvSpPr>
        <p:spPr>
          <a:xfrm>
            <a:off x="6514100" y="1851975"/>
            <a:ext cx="2303700" cy="11766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v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oid </a:t>
            </a:r>
            <a:r>
              <a:rPr lang="fr-FR" sz="800"/>
              <a:t>PiloterServoMoteur</a:t>
            </a:r>
            <a:r>
              <a:rPr lang="fr-FR" sz="800"/>
              <a:t> 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(uint</a:t>
            </a:r>
            <a:r>
              <a:rPr lang="fr-FR" sz="800"/>
              <a:t>4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_t </a:t>
            </a:r>
            <a:r>
              <a:rPr lang="fr-FR" sz="800"/>
              <a:t>direction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lang="fr-FR" sz="800"/>
              <a:t>réception de valeur de l’angle convertie sur [-30;30]</a:t>
            </a:r>
            <a:endParaRPr sz="800"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lang="fr-FR" sz="800"/>
              <a:t>pilotage des roues par PWM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La broche du servo moteur est une constante</a:t>
            </a:r>
            <a:endParaRPr sz="800"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</a:pP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paramètre </a:t>
            </a:r>
            <a:r>
              <a:rPr lang="fr-FR" sz="800"/>
              <a:t>état </a:t>
            </a:r>
            <a:r>
              <a:rPr b="0" i="0" lang="fr-F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[-30;30] angle des servomoteurs</a:t>
            </a:r>
            <a:endParaRPr sz="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/>
              <a:t>Ne retourne rien</a:t>
            </a:r>
            <a:endParaRPr sz="800"/>
          </a:p>
        </p:txBody>
      </p:sp>
      <p:sp>
        <p:nvSpPr>
          <p:cNvPr id="284" name="Google Shape;284;g268b0bc6b80_7_63"/>
          <p:cNvSpPr/>
          <p:nvPr/>
        </p:nvSpPr>
        <p:spPr>
          <a:xfrm>
            <a:off x="4327675" y="3009400"/>
            <a:ext cx="1614900" cy="18135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uint4_t direction ExtraireDirection(uint8_t Donnee)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Récupère les 4 bits d’angle dans la variable donnee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paramètre état: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angle moteur sur 4 bits (0000 : 0 jusqu’à 1111 : 15)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Retourne la valeur de l’angle du servo moteur en binaire (uint4_t direction)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85" name="Google Shape;285;g268b0bc6b80_7_63"/>
          <p:cNvSpPr/>
          <p:nvPr/>
        </p:nvSpPr>
        <p:spPr>
          <a:xfrm>
            <a:off x="4327675" y="4894375"/>
            <a:ext cx="1614900" cy="15969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uint7_t numEQ </a:t>
            </a:r>
            <a:r>
              <a:rPr lang="fr-FR" sz="800">
                <a:solidFill>
                  <a:schemeClr val="dk1"/>
                </a:solidFill>
              </a:rPr>
              <a:t>ExtraireNoEQ(uint8_t Adresse)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Récupère le</a:t>
            </a:r>
            <a:r>
              <a:rPr lang="fr-FR" sz="800">
                <a:solidFill>
                  <a:schemeClr val="dk1"/>
                </a:solidFill>
                <a:highlight>
                  <a:schemeClr val="lt1"/>
                </a:highlight>
              </a:rPr>
              <a:t>s </a:t>
            </a:r>
            <a:r>
              <a:rPr lang="fr-FR" sz="800">
                <a:solidFill>
                  <a:schemeClr val="dk1"/>
                </a:solidFill>
                <a:highlight>
                  <a:schemeClr val="lt1"/>
                </a:highlight>
              </a:rPr>
              <a:t>4</a:t>
            </a:r>
            <a:r>
              <a:rPr lang="fr-FR" sz="800">
                <a:solidFill>
                  <a:schemeClr val="dk1"/>
                </a:solidFill>
                <a:highlight>
                  <a:schemeClr val="lt1"/>
                </a:highlight>
              </a:rPr>
              <a:t> b</a:t>
            </a:r>
            <a:r>
              <a:rPr lang="fr-FR" sz="800">
                <a:solidFill>
                  <a:schemeClr val="dk1"/>
                </a:solidFill>
              </a:rPr>
              <a:t>its de </a:t>
            </a:r>
            <a:r>
              <a:rPr lang="fr-FR" sz="800">
                <a:solidFill>
                  <a:schemeClr val="dk1"/>
                </a:solidFill>
              </a:rPr>
              <a:t>numéro</a:t>
            </a:r>
            <a:r>
              <a:rPr lang="fr-FR" sz="800">
                <a:solidFill>
                  <a:schemeClr val="dk1"/>
                </a:solidFill>
              </a:rPr>
              <a:t> d’équipe dans la variable adresse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paramètre état: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numéro</a:t>
            </a:r>
            <a:r>
              <a:rPr lang="fr-FR" sz="800">
                <a:solidFill>
                  <a:schemeClr val="dk1"/>
                </a:solidFill>
              </a:rPr>
              <a:t> d’équipe sur </a:t>
            </a:r>
            <a:r>
              <a:rPr lang="fr-FR" sz="800">
                <a:solidFill>
                  <a:schemeClr val="dk1"/>
                </a:solidFill>
                <a:highlight>
                  <a:schemeClr val="lt1"/>
                </a:highlight>
              </a:rPr>
              <a:t>4 </a:t>
            </a:r>
            <a:r>
              <a:rPr lang="fr-FR" sz="800">
                <a:solidFill>
                  <a:schemeClr val="dk1"/>
                </a:solidFill>
              </a:rPr>
              <a:t>bits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Retourne le </a:t>
            </a:r>
            <a:r>
              <a:rPr lang="fr-FR" sz="800">
                <a:solidFill>
                  <a:schemeClr val="dk1"/>
                </a:solidFill>
              </a:rPr>
              <a:t>numéro</a:t>
            </a:r>
            <a:r>
              <a:rPr lang="fr-FR" sz="800">
                <a:solidFill>
                  <a:schemeClr val="dk1"/>
                </a:solidFill>
              </a:rPr>
              <a:t> d’équipe en binaire (uint7_t numEQ)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86" name="Google Shape;286;g268b0bc6b80_7_63"/>
          <p:cNvSpPr/>
          <p:nvPr/>
        </p:nvSpPr>
        <p:spPr>
          <a:xfrm>
            <a:off x="2588650" y="4894375"/>
            <a:ext cx="1614900" cy="15969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ubool1_t </a:t>
            </a:r>
            <a:r>
              <a:rPr lang="fr-FR" sz="800">
                <a:solidFill>
                  <a:schemeClr val="dk1"/>
                </a:solidFill>
              </a:rPr>
              <a:t>ExtraireKlaxon(uint8_t Adresse)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Récupère le  bit de l’état du klaxon dans la variable adresse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fr-FR" sz="800">
                <a:solidFill>
                  <a:schemeClr val="dk1"/>
                </a:solidFill>
              </a:rPr>
              <a:t>paramètre état: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booléen de l’état du klaxon sur le bit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800">
                <a:solidFill>
                  <a:schemeClr val="dk1"/>
                </a:solidFill>
              </a:rPr>
              <a:t>Retourne l’état du klaxon en binaire (ubool1_t klaxon)</a:t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287" name="Google Shape;287;g268b0bc6b80_7_63"/>
          <p:cNvCxnSpPr/>
          <p:nvPr/>
        </p:nvCxnSpPr>
        <p:spPr>
          <a:xfrm flipH="1" rot="-5400000">
            <a:off x="-214825" y="1663625"/>
            <a:ext cx="11766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" name="Google Shape;288;g268b0bc6b80_7_63"/>
          <p:cNvCxnSpPr>
            <a:stCxn id="276" idx="2"/>
            <a:endCxn id="280" idx="1"/>
          </p:cNvCxnSpPr>
          <p:nvPr/>
        </p:nvCxnSpPr>
        <p:spPr>
          <a:xfrm flipH="1" rot="-5400000">
            <a:off x="4459188" y="2819775"/>
            <a:ext cx="3781500" cy="352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9" name="Google Shape;289;g268b0bc6b80_7_63"/>
          <p:cNvCxnSpPr>
            <a:stCxn id="277" idx="2"/>
            <a:endCxn id="275" idx="3"/>
          </p:cNvCxnSpPr>
          <p:nvPr/>
        </p:nvCxnSpPr>
        <p:spPr>
          <a:xfrm flipH="1" rot="-5400000">
            <a:off x="7351725" y="2192763"/>
            <a:ext cx="2568000" cy="392700"/>
          </a:xfrm>
          <a:prstGeom prst="bentConnector4">
            <a:avLst>
              <a:gd fmla="val 15176" name="adj1"/>
              <a:gd fmla="val 139992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0" name="Google Shape;290;g268b0bc6b80_7_63"/>
          <p:cNvCxnSpPr/>
          <p:nvPr/>
        </p:nvCxnSpPr>
        <p:spPr>
          <a:xfrm rot="5400000">
            <a:off x="2569949" y="1343825"/>
            <a:ext cx="803100" cy="3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1" name="Google Shape;291;g268b0bc6b80_7_63"/>
          <p:cNvCxnSpPr>
            <a:stCxn id="279" idx="2"/>
            <a:endCxn id="273" idx="1"/>
          </p:cNvCxnSpPr>
          <p:nvPr/>
        </p:nvCxnSpPr>
        <p:spPr>
          <a:xfrm flipH="1" rot="-5400000">
            <a:off x="1816963" y="1640528"/>
            <a:ext cx="1283100" cy="276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2" name="Google Shape;292;g268b0bc6b80_7_63"/>
          <p:cNvCxnSpPr>
            <a:stCxn id="278" idx="2"/>
            <a:endCxn id="273" idx="3"/>
          </p:cNvCxnSpPr>
          <p:nvPr/>
        </p:nvCxnSpPr>
        <p:spPr>
          <a:xfrm flipH="1" rot="-5400000">
            <a:off x="4631650" y="1106825"/>
            <a:ext cx="1344600" cy="1282200"/>
          </a:xfrm>
          <a:prstGeom prst="bentConnector4">
            <a:avLst>
              <a:gd fmla="val 31366" name="adj1"/>
              <a:gd fmla="val 112124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3" name="Google Shape;293;g268b0bc6b80_7_63"/>
          <p:cNvCxnSpPr>
            <a:stCxn id="266" idx="2"/>
            <a:endCxn id="283" idx="0"/>
          </p:cNvCxnSpPr>
          <p:nvPr/>
        </p:nvCxnSpPr>
        <p:spPr>
          <a:xfrm flipH="1" rot="-5400000">
            <a:off x="7075312" y="1261475"/>
            <a:ext cx="776400" cy="4047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4" name="Google Shape;294;g268b0bc6b80_7_63"/>
          <p:cNvCxnSpPr>
            <a:stCxn id="267" idx="3"/>
            <a:endCxn id="281" idx="3"/>
          </p:cNvCxnSpPr>
          <p:nvPr/>
        </p:nvCxnSpPr>
        <p:spPr>
          <a:xfrm>
            <a:off x="8385387" y="1367600"/>
            <a:ext cx="446700" cy="4732500"/>
          </a:xfrm>
          <a:prstGeom prst="bentConnector3">
            <a:avLst>
              <a:gd fmla="val 153277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68b0bc6b80_7_15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01" name="Google Shape;301;g268b0bc6b80_7_154"/>
          <p:cNvSpPr txBox="1"/>
          <p:nvPr/>
        </p:nvSpPr>
        <p:spPr>
          <a:xfrm>
            <a:off x="6766813" y="76225"/>
            <a:ext cx="235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Informatique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268b0bc6b80_7_154"/>
          <p:cNvSpPr txBox="1"/>
          <p:nvPr/>
        </p:nvSpPr>
        <p:spPr>
          <a:xfrm>
            <a:off x="0" y="0"/>
            <a:ext cx="1431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Emetteur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268b0bc6b80_7_154"/>
          <p:cNvSpPr txBox="1"/>
          <p:nvPr/>
        </p:nvSpPr>
        <p:spPr>
          <a:xfrm>
            <a:off x="2907325" y="25"/>
            <a:ext cx="2992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Algorigramme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g268b0bc6b80_7_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0738" y="569425"/>
            <a:ext cx="2602525" cy="58673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b9d9ebf2e2_1_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11" name="Google Shape;311;g2b9d9ebf2e2_1_2"/>
          <p:cNvSpPr txBox="1"/>
          <p:nvPr/>
        </p:nvSpPr>
        <p:spPr>
          <a:xfrm>
            <a:off x="0" y="0"/>
            <a:ext cx="235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Récepteur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2b9d9ebf2e2_1_2"/>
          <p:cNvSpPr txBox="1"/>
          <p:nvPr/>
        </p:nvSpPr>
        <p:spPr>
          <a:xfrm>
            <a:off x="6787313" y="0"/>
            <a:ext cx="235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Informatique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2b9d9ebf2e2_1_2"/>
          <p:cNvSpPr txBox="1"/>
          <p:nvPr/>
        </p:nvSpPr>
        <p:spPr>
          <a:xfrm>
            <a:off x="2907325" y="25"/>
            <a:ext cx="2992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Algorigramme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g2b9d9ebf2e2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8538" y="674500"/>
            <a:ext cx="3650066" cy="5983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